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61" r:id="rId2"/>
    <p:sldId id="264" r:id="rId3"/>
    <p:sldId id="271" r:id="rId4"/>
    <p:sldId id="265" r:id="rId5"/>
    <p:sldId id="263" r:id="rId6"/>
    <p:sldId id="266" r:id="rId7"/>
    <p:sldId id="269" r:id="rId8"/>
    <p:sldId id="268" r:id="rId9"/>
    <p:sldId id="272" r:id="rId10"/>
    <p:sldId id="260" r:id="rId11"/>
    <p:sldId id="270" r:id="rId12"/>
    <p:sldId id="273" r:id="rId13"/>
    <p:sldId id="274" r:id="rId14"/>
    <p:sldId id="276" r:id="rId15"/>
    <p:sldId id="275" r:id="rId16"/>
    <p:sldId id="277" r:id="rId17"/>
    <p:sldId id="26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137214-D496-F673-A068-12C76311D8A2}" v="22" dt="2025-12-18T17:19:38.484"/>
    <p1510:client id="{7C4633EE-08A7-5256-57E6-2E8F6E2C16C1}" v="113" dt="2025-12-18T17:31:17.7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0281B-200E-4306-A69D-156321835117}" type="datetimeFigureOut">
              <a:t>1/13/2026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FCCE50-8BE7-4A0C-884A-31A13997B060}" type="slidenum">
              <a:t>‹#›</a:t>
            </a:fld>
            <a:endParaRPr lang="en-US"/>
          </a:p>
        </p:txBody>
      </p:sp>
    </p:spTree>
    <p:extLst>
      <p:ext uri="{BB962C8B-B14F-4D97-AF65-F5344CB8AC3E}">
        <p14:creationId xmlns:p14="http://schemas.microsoft.com/office/powerpoint/2010/main" val="1147310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Sans-Serif"/>
              <a:buChar char="•"/>
            </a:pPr>
            <a:r>
              <a:rPr lang="en-US"/>
              <a:t>Summary</a:t>
            </a:r>
          </a:p>
          <a:p>
            <a:pPr marL="742950" lvl="1" indent="-285750">
              <a:buFont typeface="Courier New,monospace"/>
              <a:buChar char="•"/>
            </a:pPr>
            <a:r>
              <a:rPr lang="en-US"/>
              <a:t>This devices goal was to track a persons movement during running or sprinting and return collected data to the user to help them improve. </a:t>
            </a:r>
            <a:endParaRPr lang="en-US">
              <a:ea typeface="Calibri"/>
              <a:cs typeface="Calibri"/>
            </a:endParaRPr>
          </a:p>
          <a:p>
            <a:pPr marL="742950" lvl="1" indent="-285750">
              <a:buFont typeface="Courier New,monospace"/>
              <a:buChar char="•"/>
            </a:pPr>
            <a:r>
              <a:rPr lang="en-US"/>
              <a:t>The device would've done this by returning data collected from sensors in pads that go on the knee and foot and sending that data to a computer to process it and return it to the user</a:t>
            </a:r>
            <a:endParaRPr lang="en-US" err="1">
              <a:ea typeface="Calibri"/>
              <a:cs typeface="Calibri"/>
            </a:endParaRPr>
          </a:p>
        </p:txBody>
      </p:sp>
      <p:sp>
        <p:nvSpPr>
          <p:cNvPr id="4" name="Slide Number Placeholder 3"/>
          <p:cNvSpPr>
            <a:spLocks noGrp="1"/>
          </p:cNvSpPr>
          <p:nvPr>
            <p:ph type="sldNum" sz="quarter" idx="5"/>
          </p:nvPr>
        </p:nvSpPr>
        <p:spPr/>
        <p:txBody>
          <a:bodyPr/>
          <a:lstStyle/>
          <a:p>
            <a:fld id="{8FFCCE50-8BE7-4A0C-884A-31A13997B060}" type="slidenum">
              <a:t>5</a:t>
            </a:fld>
            <a:endParaRPr lang="en-US"/>
          </a:p>
        </p:txBody>
      </p:sp>
    </p:spTree>
    <p:extLst>
      <p:ext uri="{BB962C8B-B14F-4D97-AF65-F5344CB8AC3E}">
        <p14:creationId xmlns:p14="http://schemas.microsoft.com/office/powerpoint/2010/main" val="35910066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enago.com/academy/checklist-essential-things-to-do-before-starting-your-research-study/"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link.springer.com/article/10.1007/s40279-022-01760-6" TargetMode="External"/><Relationship Id="rId3" Type="http://schemas.openxmlformats.org/officeDocument/2006/relationships/hyperlink" Target="https://www.runnersworld.com/health-injuries/a65792883/rethink-mileage-increase-running-injuries/" TargetMode="External"/><Relationship Id="rId7" Type="http://schemas.openxmlformats.org/officeDocument/2006/relationships/hyperlink" Target="https://www.stryd.com/us/en" TargetMode="External"/><Relationship Id="rId2" Type="http://schemas.openxmlformats.org/officeDocument/2006/relationships/hyperlink" Target="https://pmc.ncbi.nlm.nih.gov/articles/PMC8500811/#:~:text=About%2070%25%E2%80%9380%25%20of%20running%20disorders%20are%20due,stress%20syndrome%20is%20the%20most%20common%20RRMI" TargetMode="External"/><Relationship Id="rId1" Type="http://schemas.openxmlformats.org/officeDocument/2006/relationships/slideLayout" Target="../slideLayouts/slideLayout2.xml"/><Relationship Id="rId6" Type="http://schemas.openxmlformats.org/officeDocument/2006/relationships/hyperlink" Target="https://runscribe.com/" TargetMode="External"/><Relationship Id="rId5" Type="http://schemas.openxmlformats.org/officeDocument/2006/relationships/hyperlink" Target="https://journals.plos.org/plosone/article?id=10.1371%2Fjournal.pone.0291289" TargetMode="External"/><Relationship Id="rId4" Type="http://schemas.openxmlformats.org/officeDocument/2006/relationships/hyperlink" Target="https://pmc.ncbi.nlm.nih.gov/articles/PMC980749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F1F1A6-3054-0C7A-BB0E-B3788CCBB49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76D6CDF-C512-4739-B158-55EE955EF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3"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684EE7-8D19-FEAE-6AD5-56E3BB60A1FB}"/>
              </a:ext>
            </a:extLst>
          </p:cNvPr>
          <p:cNvSpPr>
            <a:spLocks noGrp="1"/>
          </p:cNvSpPr>
          <p:nvPr>
            <p:ph type="title"/>
          </p:nvPr>
        </p:nvSpPr>
        <p:spPr>
          <a:xfrm>
            <a:off x="1137033" y="670559"/>
            <a:ext cx="4683321" cy="2148841"/>
          </a:xfrm>
        </p:spPr>
        <p:txBody>
          <a:bodyPr anchor="t">
            <a:normAutofit/>
          </a:bodyPr>
          <a:lstStyle/>
          <a:p>
            <a:r>
              <a:rPr lang="en-US"/>
              <a:t>Validation of problem</a:t>
            </a:r>
          </a:p>
        </p:txBody>
      </p:sp>
      <p:pic>
        <p:nvPicPr>
          <p:cNvPr id="4" name="Picture 3" descr="Stevens the fastest, but who are the other top cross country runners in the  North?">
            <a:extLst>
              <a:ext uri="{FF2B5EF4-FFF2-40B4-BE49-F238E27FC236}">
                <a16:creationId xmlns:a16="http://schemas.microsoft.com/office/drawing/2014/main" id="{FAE14028-C52C-2C94-0510-603D3EDDF6D5}"/>
              </a:ext>
            </a:extLst>
          </p:cNvPr>
          <p:cNvPicPr>
            <a:picLocks noChangeAspect="1"/>
          </p:cNvPicPr>
          <p:nvPr/>
        </p:nvPicPr>
        <p:blipFill>
          <a:blip r:embed="rId2"/>
          <a:srcRect b="3406"/>
          <a:stretch>
            <a:fillRect/>
          </a:stretch>
        </p:blipFill>
        <p:spPr>
          <a:xfrm>
            <a:off x="1" y="3105151"/>
            <a:ext cx="6448424" cy="3752849"/>
          </a:xfrm>
          <a:custGeom>
            <a:avLst/>
            <a:gdLst/>
            <a:ahLst/>
            <a:cxnLst/>
            <a:rect l="l" t="t" r="r" b="b"/>
            <a:pathLst>
              <a:path w="6448424" h="3752849">
                <a:moveTo>
                  <a:pt x="0" y="0"/>
                </a:moveTo>
                <a:lnTo>
                  <a:pt x="137978" y="22215"/>
                </a:lnTo>
                <a:cubicBezTo>
                  <a:pt x="196046" y="32277"/>
                  <a:pt x="252469" y="42437"/>
                  <a:pt x="295660" y="49771"/>
                </a:cubicBezTo>
                <a:cubicBezTo>
                  <a:pt x="364885" y="66610"/>
                  <a:pt x="403214" y="32071"/>
                  <a:pt x="456941" y="65635"/>
                </a:cubicBezTo>
                <a:cubicBezTo>
                  <a:pt x="529612" y="69090"/>
                  <a:pt x="662508" y="71245"/>
                  <a:pt x="731691" y="70501"/>
                </a:cubicBezTo>
                <a:cubicBezTo>
                  <a:pt x="768741" y="62400"/>
                  <a:pt x="808263" y="64633"/>
                  <a:pt x="841820" y="61171"/>
                </a:cubicBezTo>
                <a:cubicBezTo>
                  <a:pt x="958973" y="43639"/>
                  <a:pt x="1009730" y="45863"/>
                  <a:pt x="1068219" y="39136"/>
                </a:cubicBezTo>
                <a:cubicBezTo>
                  <a:pt x="1104329" y="33447"/>
                  <a:pt x="1156536" y="44203"/>
                  <a:pt x="1174190" y="38808"/>
                </a:cubicBezTo>
                <a:cubicBezTo>
                  <a:pt x="1188943" y="36385"/>
                  <a:pt x="1213832" y="14880"/>
                  <a:pt x="1225923" y="34507"/>
                </a:cubicBezTo>
                <a:cubicBezTo>
                  <a:pt x="1305283" y="8501"/>
                  <a:pt x="1319617" y="30839"/>
                  <a:pt x="1385617" y="18003"/>
                </a:cubicBezTo>
                <a:cubicBezTo>
                  <a:pt x="1461876" y="-26747"/>
                  <a:pt x="1519510" y="56342"/>
                  <a:pt x="1563967" y="4638"/>
                </a:cubicBezTo>
                <a:lnTo>
                  <a:pt x="1676634" y="10582"/>
                </a:lnTo>
                <a:lnTo>
                  <a:pt x="1769429" y="20265"/>
                </a:lnTo>
                <a:cubicBezTo>
                  <a:pt x="1790625" y="23534"/>
                  <a:pt x="1880369" y="18448"/>
                  <a:pt x="1900584" y="27732"/>
                </a:cubicBezTo>
                <a:cubicBezTo>
                  <a:pt x="2072430" y="22762"/>
                  <a:pt x="2014935" y="5831"/>
                  <a:pt x="2127041" y="22101"/>
                </a:cubicBezTo>
                <a:cubicBezTo>
                  <a:pt x="2168847" y="65820"/>
                  <a:pt x="2153052" y="28773"/>
                  <a:pt x="2211644" y="44507"/>
                </a:cubicBezTo>
                <a:cubicBezTo>
                  <a:pt x="2211201" y="9921"/>
                  <a:pt x="2277596" y="73686"/>
                  <a:pt x="2299605" y="38004"/>
                </a:cubicBezTo>
                <a:cubicBezTo>
                  <a:pt x="2309570" y="41997"/>
                  <a:pt x="2318531" y="46991"/>
                  <a:pt x="2327359" y="52270"/>
                </a:cubicBezTo>
                <a:lnTo>
                  <a:pt x="2331995" y="55017"/>
                </a:lnTo>
                <a:lnTo>
                  <a:pt x="2353777" y="59755"/>
                </a:lnTo>
                <a:lnTo>
                  <a:pt x="2355893" y="68914"/>
                </a:lnTo>
                <a:lnTo>
                  <a:pt x="2385794" y="81650"/>
                </a:lnTo>
                <a:cubicBezTo>
                  <a:pt x="2397613" y="85211"/>
                  <a:pt x="2411061" y="87627"/>
                  <a:pt x="2427010" y="88184"/>
                </a:cubicBezTo>
                <a:cubicBezTo>
                  <a:pt x="2486314" y="76422"/>
                  <a:pt x="2553170" y="126870"/>
                  <a:pt x="2627153" y="110451"/>
                </a:cubicBezTo>
                <a:cubicBezTo>
                  <a:pt x="2653722" y="107383"/>
                  <a:pt x="2732043" y="116068"/>
                  <a:pt x="2744462" y="128780"/>
                </a:cubicBezTo>
                <a:cubicBezTo>
                  <a:pt x="2760299" y="132873"/>
                  <a:pt x="2780248" y="130843"/>
                  <a:pt x="2785202" y="143610"/>
                </a:cubicBezTo>
                <a:cubicBezTo>
                  <a:pt x="2794558" y="159316"/>
                  <a:pt x="2856498" y="142821"/>
                  <a:pt x="2844667" y="159029"/>
                </a:cubicBezTo>
                <a:cubicBezTo>
                  <a:pt x="2888530" y="147871"/>
                  <a:pt x="2914187" y="181391"/>
                  <a:pt x="2946649" y="192330"/>
                </a:cubicBezTo>
                <a:cubicBezTo>
                  <a:pt x="2981872" y="180417"/>
                  <a:pt x="3015239" y="215115"/>
                  <a:pt x="3088812" y="226485"/>
                </a:cubicBezTo>
                <a:cubicBezTo>
                  <a:pt x="3127734" y="212524"/>
                  <a:pt x="3138301" y="234381"/>
                  <a:pt x="3208669" y="217774"/>
                </a:cubicBezTo>
                <a:cubicBezTo>
                  <a:pt x="3242208" y="219284"/>
                  <a:pt x="3229623" y="233297"/>
                  <a:pt x="3290045" y="235553"/>
                </a:cubicBezTo>
                <a:cubicBezTo>
                  <a:pt x="3399655" y="215239"/>
                  <a:pt x="3444518" y="245862"/>
                  <a:pt x="3529335" y="249571"/>
                </a:cubicBezTo>
                <a:cubicBezTo>
                  <a:pt x="3623697" y="257405"/>
                  <a:pt x="3587652" y="268832"/>
                  <a:pt x="3716766" y="252690"/>
                </a:cubicBezTo>
                <a:cubicBezTo>
                  <a:pt x="3723469" y="267318"/>
                  <a:pt x="3737863" y="269842"/>
                  <a:pt x="3765333" y="266823"/>
                </a:cubicBezTo>
                <a:cubicBezTo>
                  <a:pt x="3810754" y="271601"/>
                  <a:pt x="3792745" y="303866"/>
                  <a:pt x="3846897" y="290090"/>
                </a:cubicBezTo>
                <a:cubicBezTo>
                  <a:pt x="3830941" y="306608"/>
                  <a:pt x="3929114" y="308026"/>
                  <a:pt x="3900217" y="323590"/>
                </a:cubicBezTo>
                <a:cubicBezTo>
                  <a:pt x="3922367" y="343425"/>
                  <a:pt x="3948574" y="318948"/>
                  <a:pt x="3971444" y="336662"/>
                </a:cubicBezTo>
                <a:cubicBezTo>
                  <a:pt x="4002781" y="344193"/>
                  <a:pt x="3960997" y="315419"/>
                  <a:pt x="3997868" y="318867"/>
                </a:cubicBezTo>
                <a:cubicBezTo>
                  <a:pt x="4041159" y="326219"/>
                  <a:pt x="4055435" y="293981"/>
                  <a:pt x="4070852" y="339615"/>
                </a:cubicBezTo>
                <a:cubicBezTo>
                  <a:pt x="4121286" y="335828"/>
                  <a:pt x="4121920" y="355506"/>
                  <a:pt x="4180483" y="373369"/>
                </a:cubicBezTo>
                <a:cubicBezTo>
                  <a:pt x="4211379" y="366707"/>
                  <a:pt x="4230171" y="374664"/>
                  <a:pt x="4246264" y="387458"/>
                </a:cubicBezTo>
                <a:cubicBezTo>
                  <a:pt x="4308508" y="393310"/>
                  <a:pt x="4357326" y="416142"/>
                  <a:pt x="4423169" y="431783"/>
                </a:cubicBezTo>
                <a:lnTo>
                  <a:pt x="4446752" y="435383"/>
                </a:lnTo>
                <a:lnTo>
                  <a:pt x="4446954" y="435566"/>
                </a:lnTo>
                <a:cubicBezTo>
                  <a:pt x="4508528" y="480137"/>
                  <a:pt x="4617740" y="529869"/>
                  <a:pt x="4662523" y="553169"/>
                </a:cubicBezTo>
                <a:cubicBezTo>
                  <a:pt x="4720320" y="547046"/>
                  <a:pt x="4678644" y="560102"/>
                  <a:pt x="4715641" y="575354"/>
                </a:cubicBezTo>
                <a:cubicBezTo>
                  <a:pt x="4682056" y="593278"/>
                  <a:pt x="4768370" y="586520"/>
                  <a:pt x="4742071" y="614016"/>
                </a:cubicBezTo>
                <a:cubicBezTo>
                  <a:pt x="4749637" y="615922"/>
                  <a:pt x="4757797" y="616899"/>
                  <a:pt x="4766183" y="617675"/>
                </a:cubicBezTo>
                <a:lnTo>
                  <a:pt x="4770562" y="618094"/>
                </a:lnTo>
                <a:lnTo>
                  <a:pt x="4783240" y="624350"/>
                </a:lnTo>
                <a:lnTo>
                  <a:pt x="4792882" y="620401"/>
                </a:lnTo>
                <a:lnTo>
                  <a:pt x="4816310" y="625721"/>
                </a:lnTo>
                <a:cubicBezTo>
                  <a:pt x="4824144" y="628595"/>
                  <a:pt x="4831482" y="632720"/>
                  <a:pt x="4837953" y="638824"/>
                </a:cubicBezTo>
                <a:cubicBezTo>
                  <a:pt x="4848645" y="668753"/>
                  <a:pt x="4922266" y="669148"/>
                  <a:pt x="4933914" y="707398"/>
                </a:cubicBezTo>
                <a:cubicBezTo>
                  <a:pt x="4940833" y="719653"/>
                  <a:pt x="4978358" y="746502"/>
                  <a:pt x="4995259" y="744825"/>
                </a:cubicBezTo>
                <a:cubicBezTo>
                  <a:pt x="5005107" y="749034"/>
                  <a:pt x="5010567" y="758092"/>
                  <a:pt x="5024744" y="753396"/>
                </a:cubicBezTo>
                <a:cubicBezTo>
                  <a:pt x="5047511" y="761361"/>
                  <a:pt x="5109162" y="783016"/>
                  <a:pt x="5131877" y="792613"/>
                </a:cubicBezTo>
                <a:cubicBezTo>
                  <a:pt x="5132671" y="802792"/>
                  <a:pt x="5144554" y="806683"/>
                  <a:pt x="5161031" y="810975"/>
                </a:cubicBezTo>
                <a:lnTo>
                  <a:pt x="5176815" y="815342"/>
                </a:lnTo>
                <a:lnTo>
                  <a:pt x="5180064" y="831233"/>
                </a:lnTo>
                <a:cubicBezTo>
                  <a:pt x="5202966" y="819270"/>
                  <a:pt x="5188976" y="863361"/>
                  <a:pt x="5215059" y="865080"/>
                </a:cubicBezTo>
                <a:cubicBezTo>
                  <a:pt x="5235765" y="864786"/>
                  <a:pt x="5236347" y="878098"/>
                  <a:pt x="5245643" y="887119"/>
                </a:cubicBezTo>
                <a:cubicBezTo>
                  <a:pt x="5267660" y="891609"/>
                  <a:pt x="5295742" y="939348"/>
                  <a:pt x="5295952" y="957174"/>
                </a:cubicBezTo>
                <a:cubicBezTo>
                  <a:pt x="5284322" y="1008946"/>
                  <a:pt x="5374979" y="1038019"/>
                  <a:pt x="5367826" y="1079140"/>
                </a:cubicBezTo>
                <a:cubicBezTo>
                  <a:pt x="5371668" y="1089190"/>
                  <a:pt x="5377921" y="1097135"/>
                  <a:pt x="5385646" y="1103730"/>
                </a:cubicBezTo>
                <a:lnTo>
                  <a:pt x="5410965" y="1119397"/>
                </a:lnTo>
                <a:lnTo>
                  <a:pt x="5436960" y="1130910"/>
                </a:lnTo>
                <a:lnTo>
                  <a:pt x="5442083" y="1133134"/>
                </a:lnTo>
                <a:cubicBezTo>
                  <a:pt x="5451910" y="1137346"/>
                  <a:pt x="5457170" y="1169188"/>
                  <a:pt x="5465219" y="1174479"/>
                </a:cubicBezTo>
                <a:cubicBezTo>
                  <a:pt x="5488744" y="1195184"/>
                  <a:pt x="5467141" y="1223401"/>
                  <a:pt x="5488171" y="1238604"/>
                </a:cubicBezTo>
                <a:cubicBezTo>
                  <a:pt x="5523491" y="1271811"/>
                  <a:pt x="5486623" y="1305961"/>
                  <a:pt x="5562172" y="1320840"/>
                </a:cubicBezTo>
                <a:cubicBezTo>
                  <a:pt x="5601634" y="1385316"/>
                  <a:pt x="5636528" y="1453139"/>
                  <a:pt x="5686905" y="1512529"/>
                </a:cubicBezTo>
                <a:cubicBezTo>
                  <a:pt x="5729049" y="1575678"/>
                  <a:pt x="5699691" y="1553768"/>
                  <a:pt x="5748726" y="1623716"/>
                </a:cubicBezTo>
                <a:cubicBezTo>
                  <a:pt x="5783098" y="1689734"/>
                  <a:pt x="5789710" y="1639740"/>
                  <a:pt x="5842593" y="1726595"/>
                </a:cubicBezTo>
                <a:cubicBezTo>
                  <a:pt x="5837824" y="1733043"/>
                  <a:pt x="5862023" y="1845188"/>
                  <a:pt x="5861042" y="1851837"/>
                </a:cubicBezTo>
                <a:cubicBezTo>
                  <a:pt x="5874156" y="1887981"/>
                  <a:pt x="5901790" y="1919218"/>
                  <a:pt x="5921290" y="1943460"/>
                </a:cubicBezTo>
                <a:lnTo>
                  <a:pt x="5978046" y="1997284"/>
                </a:lnTo>
                <a:lnTo>
                  <a:pt x="5992479" y="2056720"/>
                </a:lnTo>
                <a:cubicBezTo>
                  <a:pt x="6011078" y="2079033"/>
                  <a:pt x="6072687" y="2117397"/>
                  <a:pt x="6089639" y="2131171"/>
                </a:cubicBezTo>
                <a:lnTo>
                  <a:pt x="6094199" y="2139379"/>
                </a:lnTo>
                <a:lnTo>
                  <a:pt x="6094822" y="2139386"/>
                </a:lnTo>
                <a:cubicBezTo>
                  <a:pt x="6096947" y="2140841"/>
                  <a:pt x="6098876" y="2143416"/>
                  <a:pt x="6100692" y="2147736"/>
                </a:cubicBezTo>
                <a:lnTo>
                  <a:pt x="6102516" y="2154343"/>
                </a:lnTo>
                <a:lnTo>
                  <a:pt x="6111361" y="2170264"/>
                </a:lnTo>
                <a:lnTo>
                  <a:pt x="6215475" y="2270153"/>
                </a:lnTo>
                <a:lnTo>
                  <a:pt x="6255966" y="2335401"/>
                </a:lnTo>
                <a:lnTo>
                  <a:pt x="6272711" y="2385144"/>
                </a:lnTo>
                <a:cubicBezTo>
                  <a:pt x="6282320" y="2406495"/>
                  <a:pt x="6299066" y="2405139"/>
                  <a:pt x="6304347" y="2439388"/>
                </a:cubicBezTo>
                <a:cubicBezTo>
                  <a:pt x="6297131" y="2486231"/>
                  <a:pt x="6325530" y="2500962"/>
                  <a:pt x="6326729" y="2549400"/>
                </a:cubicBezTo>
                <a:cubicBezTo>
                  <a:pt x="6325926" y="2572066"/>
                  <a:pt x="6339111" y="2599957"/>
                  <a:pt x="6344663" y="2628839"/>
                </a:cubicBezTo>
                <a:lnTo>
                  <a:pt x="6375811" y="2639204"/>
                </a:lnTo>
                <a:cubicBezTo>
                  <a:pt x="6375427" y="2643533"/>
                  <a:pt x="6375041" y="2647863"/>
                  <a:pt x="6374657" y="2652193"/>
                </a:cubicBezTo>
                <a:cubicBezTo>
                  <a:pt x="6373555" y="2658134"/>
                  <a:pt x="6371943" y="2662665"/>
                  <a:pt x="6369740" y="2664642"/>
                </a:cubicBezTo>
                <a:cubicBezTo>
                  <a:pt x="6368032" y="2674540"/>
                  <a:pt x="6371528" y="2686899"/>
                  <a:pt x="6361964" y="2690172"/>
                </a:cubicBezTo>
                <a:cubicBezTo>
                  <a:pt x="6350507" y="2696218"/>
                  <a:pt x="6369375" y="2734440"/>
                  <a:pt x="6355511" y="2727335"/>
                </a:cubicBezTo>
                <a:cubicBezTo>
                  <a:pt x="6358746" y="2734104"/>
                  <a:pt x="6360434" y="2742096"/>
                  <a:pt x="6361058" y="2750592"/>
                </a:cubicBezTo>
                <a:cubicBezTo>
                  <a:pt x="6361013" y="2751998"/>
                  <a:pt x="6360970" y="2753408"/>
                  <a:pt x="6360926" y="2754814"/>
                </a:cubicBezTo>
                <a:lnTo>
                  <a:pt x="6339285" y="2810353"/>
                </a:lnTo>
                <a:cubicBezTo>
                  <a:pt x="6360091" y="2854187"/>
                  <a:pt x="6313103" y="2870086"/>
                  <a:pt x="6325672" y="2908809"/>
                </a:cubicBezTo>
                <a:cubicBezTo>
                  <a:pt x="6341563" y="2966972"/>
                  <a:pt x="6291836" y="2935388"/>
                  <a:pt x="6333498" y="3009772"/>
                </a:cubicBezTo>
                <a:cubicBezTo>
                  <a:pt x="6345476" y="3039254"/>
                  <a:pt x="6345955" y="3068963"/>
                  <a:pt x="6334947" y="3095405"/>
                </a:cubicBezTo>
                <a:lnTo>
                  <a:pt x="6344768" y="3155941"/>
                </a:lnTo>
                <a:cubicBezTo>
                  <a:pt x="6348643" y="3153663"/>
                  <a:pt x="6311793" y="3186588"/>
                  <a:pt x="6314754" y="3197987"/>
                </a:cubicBezTo>
                <a:cubicBezTo>
                  <a:pt x="6318695" y="3221971"/>
                  <a:pt x="6319257" y="3226752"/>
                  <a:pt x="6304230" y="3239690"/>
                </a:cubicBezTo>
                <a:cubicBezTo>
                  <a:pt x="6306321" y="3248567"/>
                  <a:pt x="6307305" y="3254005"/>
                  <a:pt x="6308837" y="3264003"/>
                </a:cubicBezTo>
                <a:cubicBezTo>
                  <a:pt x="6301812" y="3288243"/>
                  <a:pt x="6298529" y="3302527"/>
                  <a:pt x="6309285" y="3324103"/>
                </a:cubicBezTo>
                <a:cubicBezTo>
                  <a:pt x="6301188" y="3343007"/>
                  <a:pt x="6329285" y="3359307"/>
                  <a:pt x="6342503" y="3405661"/>
                </a:cubicBezTo>
                <a:cubicBezTo>
                  <a:pt x="6338012" y="3447477"/>
                  <a:pt x="6408325" y="3505721"/>
                  <a:pt x="6401531" y="3550593"/>
                </a:cubicBezTo>
                <a:cubicBezTo>
                  <a:pt x="6395655" y="3579549"/>
                  <a:pt x="6423437" y="3594758"/>
                  <a:pt x="6427705" y="3624684"/>
                </a:cubicBezTo>
                <a:cubicBezTo>
                  <a:pt x="6416402" y="3629199"/>
                  <a:pt x="6435787" y="3639516"/>
                  <a:pt x="6448424" y="3657106"/>
                </a:cubicBezTo>
                <a:lnTo>
                  <a:pt x="6444014" y="3752742"/>
                </a:lnTo>
                <a:cubicBezTo>
                  <a:pt x="6443990" y="3752777"/>
                  <a:pt x="6443967" y="3752813"/>
                  <a:pt x="6443946" y="3752849"/>
                </a:cubicBezTo>
                <a:lnTo>
                  <a:pt x="0" y="3752849"/>
                </a:lnTo>
                <a:close/>
              </a:path>
            </a:pathLst>
          </a:custGeom>
        </p:spPr>
      </p:pic>
      <p:sp>
        <p:nvSpPr>
          <p:cNvPr id="3" name="Content Placeholder 2">
            <a:extLst>
              <a:ext uri="{FF2B5EF4-FFF2-40B4-BE49-F238E27FC236}">
                <a16:creationId xmlns:a16="http://schemas.microsoft.com/office/drawing/2014/main" id="{91EBE524-2779-C907-137A-10790E8FF1FF}"/>
              </a:ext>
            </a:extLst>
          </p:cNvPr>
          <p:cNvSpPr>
            <a:spLocks noGrp="1"/>
          </p:cNvSpPr>
          <p:nvPr>
            <p:ph idx="1"/>
          </p:nvPr>
        </p:nvSpPr>
        <p:spPr>
          <a:xfrm>
            <a:off x="6797004" y="670559"/>
            <a:ext cx="4555782" cy="5445076"/>
          </a:xfrm>
        </p:spPr>
        <p:txBody>
          <a:bodyPr vert="horz" lIns="91440" tIns="45720" rIns="91440" bIns="45720" rtlCol="0" anchor="t">
            <a:normAutofit/>
          </a:bodyPr>
          <a:lstStyle/>
          <a:p>
            <a:endParaRPr lang="en-US" sz="1600">
              <a:ea typeface="+mn-lt"/>
              <a:cs typeface="+mn-lt"/>
            </a:endParaRPr>
          </a:p>
          <a:p>
            <a:r>
              <a:rPr lang="en-US" sz="1600" b="1">
                <a:ea typeface="+mn-lt"/>
                <a:cs typeface="+mn-lt"/>
              </a:rPr>
              <a:t>Consumers</a:t>
            </a:r>
            <a:r>
              <a:rPr lang="en-US" sz="1600" b="1"/>
              <a:t>, Users, and Interviews:</a:t>
            </a:r>
            <a:r>
              <a:rPr lang="en-US" sz="1600"/>
              <a:t> Among high school </a:t>
            </a:r>
            <a:r>
              <a:rPr lang="en-US" sz="1600">
                <a:ea typeface="+mn-lt"/>
                <a:cs typeface="+mn-lt"/>
              </a:rPr>
              <a:t>cross-country </a:t>
            </a:r>
            <a:r>
              <a:rPr lang="en-US" sz="1600"/>
              <a:t>runners  it was </a:t>
            </a:r>
            <a:r>
              <a:rPr lang="en-US" sz="1600">
                <a:ea typeface="+mn-lt"/>
                <a:cs typeface="+mn-lt"/>
              </a:rPr>
              <a:t>indicated </a:t>
            </a:r>
            <a:r>
              <a:rPr lang="en-US" sz="1600"/>
              <a:t>that </a:t>
            </a:r>
            <a:r>
              <a:rPr lang="en-US" sz="1600">
                <a:ea typeface="+mn-lt"/>
                <a:cs typeface="+mn-lt"/>
              </a:rPr>
              <a:t>60% were unaware of their current </a:t>
            </a:r>
            <a:r>
              <a:rPr lang="en-US" sz="1600"/>
              <a:t>running </a:t>
            </a:r>
            <a:r>
              <a:rPr lang="en-US" sz="1600">
                <a:ea typeface="+mn-lt"/>
                <a:cs typeface="+mn-lt"/>
              </a:rPr>
              <a:t>cadence, yet 75% of them expressed concern about past or potential injury</a:t>
            </a:r>
            <a:r>
              <a:rPr lang="en-US" sz="1600"/>
              <a:t>. The </a:t>
            </a:r>
            <a:r>
              <a:rPr lang="en-US" sz="1600">
                <a:ea typeface="+mn-lt"/>
                <a:cs typeface="+mn-lt"/>
              </a:rPr>
              <a:t>consensus among users is </a:t>
            </a:r>
            <a:r>
              <a:rPr lang="en-US" sz="1600"/>
              <a:t>that </a:t>
            </a:r>
            <a:r>
              <a:rPr lang="en-US" sz="1600">
                <a:ea typeface="+mn-lt"/>
                <a:cs typeface="+mn-lt"/>
              </a:rPr>
              <a:t>professional gait analysis is too expensive </a:t>
            </a:r>
            <a:r>
              <a:rPr lang="en-US" sz="1600"/>
              <a:t>and hard to access to </a:t>
            </a:r>
            <a:r>
              <a:rPr lang="en-US" sz="1600">
                <a:ea typeface="+mn-lt"/>
                <a:cs typeface="+mn-lt"/>
              </a:rPr>
              <a:t>be a practical training tool</a:t>
            </a:r>
            <a:r>
              <a:rPr lang="en-US" sz="1600"/>
              <a:t>.</a:t>
            </a:r>
          </a:p>
          <a:p>
            <a:r>
              <a:rPr lang="en-US" sz="1600" b="1">
                <a:ea typeface="+mn-lt"/>
                <a:cs typeface="+mn-lt"/>
              </a:rPr>
              <a:t>Scholarly Articles:</a:t>
            </a:r>
            <a:r>
              <a:rPr lang="en-US" sz="1600">
                <a:ea typeface="+mn-lt"/>
                <a:cs typeface="+mn-lt"/>
              </a:rPr>
              <a:t> Research published </a:t>
            </a:r>
            <a:r>
              <a:rPr lang="en-US" sz="1600"/>
              <a:t>in the </a:t>
            </a:r>
            <a:r>
              <a:rPr lang="en-US" sz="1600" i="1">
                <a:ea typeface="+mn-lt"/>
                <a:cs typeface="+mn-lt"/>
              </a:rPr>
              <a:t>Journal of </a:t>
            </a:r>
            <a:r>
              <a:rPr lang="en-US" sz="1600" i="1" err="1">
                <a:ea typeface="+mn-lt"/>
                <a:cs typeface="+mn-lt"/>
              </a:rPr>
              <a:t>Orthopaedic</a:t>
            </a:r>
            <a:r>
              <a:rPr lang="en-US" sz="1600" i="1">
                <a:ea typeface="+mn-lt"/>
                <a:cs typeface="+mn-lt"/>
              </a:rPr>
              <a:t> &amp; Sports Physical Therapy</a:t>
            </a:r>
            <a:r>
              <a:rPr lang="en-US" sz="1600">
                <a:ea typeface="+mn-lt"/>
                <a:cs typeface="+mn-lt"/>
              </a:rPr>
              <a:t> confirms that increasing a runner's cadence by 5-10% can significantly reduce loading rates at the knee and hip, validating the need for simple cadence feedback.</a:t>
            </a:r>
          </a:p>
          <a:p>
            <a:r>
              <a:rPr lang="en-US" sz="1600" b="1">
                <a:ea typeface="+mn-lt"/>
                <a:cs typeface="+mn-lt"/>
              </a:rPr>
              <a:t>Brief Summary of Existing Products and Patents:</a:t>
            </a:r>
            <a:r>
              <a:rPr lang="en-US" sz="1600">
                <a:ea typeface="+mn-lt"/>
                <a:cs typeface="+mn-lt"/>
              </a:rPr>
              <a:t> High-end competitive products offer power metrics but are priced at over </a:t>
            </a:r>
            <a:r>
              <a:rPr lang="en-US" sz="1600"/>
              <a:t>$200, confirming the existence of a high-price barrier. Existing patents primarily focus on complex multi-sensor systems, which drives up manufacturing cost.</a:t>
            </a:r>
          </a:p>
          <a:p>
            <a:endParaRPr lang="en-US" sz="1600"/>
          </a:p>
        </p:txBody>
      </p:sp>
    </p:spTree>
    <p:extLst>
      <p:ext uri="{BB962C8B-B14F-4D97-AF65-F5344CB8AC3E}">
        <p14:creationId xmlns:p14="http://schemas.microsoft.com/office/powerpoint/2010/main" val="883339774"/>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799AA4-1958-27FB-79CD-E0E427FDF8B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EAFD1D-E433-27BF-C319-2DB24FEA729C}"/>
              </a:ext>
            </a:extLst>
          </p:cNvPr>
          <p:cNvSpPr>
            <a:spLocks noGrp="1"/>
          </p:cNvSpPr>
          <p:nvPr>
            <p:ph type="title"/>
          </p:nvPr>
        </p:nvSpPr>
        <p:spPr>
          <a:xfrm>
            <a:off x="526773" y="2319"/>
            <a:ext cx="11018520" cy="1434415"/>
          </a:xfrm>
        </p:spPr>
        <p:txBody>
          <a:bodyPr anchor="b">
            <a:normAutofit/>
          </a:bodyPr>
          <a:lstStyle/>
          <a:p>
            <a:r>
              <a:rPr lang="en-US" sz="5400"/>
              <a:t>Statistics:</a:t>
            </a:r>
          </a:p>
        </p:txBody>
      </p:sp>
      <p:sp>
        <p:nvSpPr>
          <p:cNvPr id="11"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4F9EAB9-7601-7D06-128D-ED0841112A4C}"/>
              </a:ext>
            </a:extLst>
          </p:cNvPr>
          <p:cNvSpPr>
            <a:spLocks noGrp="1"/>
          </p:cNvSpPr>
          <p:nvPr>
            <p:ph idx="1"/>
          </p:nvPr>
        </p:nvSpPr>
        <p:spPr>
          <a:xfrm>
            <a:off x="473433" y="1507436"/>
            <a:ext cx="7772732" cy="5292652"/>
          </a:xfrm>
        </p:spPr>
        <p:txBody>
          <a:bodyPr vert="horz" lIns="91440" tIns="45720" rIns="91440" bIns="45720" rtlCol="0" anchor="t">
            <a:noAutofit/>
          </a:bodyPr>
          <a:lstStyle/>
          <a:p>
            <a:endParaRPr lang="en-US" sz="1300">
              <a:ea typeface="+mn-lt"/>
              <a:cs typeface="+mn-lt"/>
            </a:endParaRPr>
          </a:p>
          <a:p>
            <a:r>
              <a:rPr lang="en-US" sz="1300">
                <a:ea typeface="+mn-lt"/>
                <a:cs typeface="+mn-lt"/>
              </a:rPr>
              <a:t>Injury Prevalence (Why the Problem Exists)</a:t>
            </a:r>
            <a:endParaRPr lang="en-US" sz="1300"/>
          </a:p>
          <a:p>
            <a:pPr lvl="1">
              <a:buFont typeface="Courier New" panose="020B0604020202020204" pitchFamily="34" charset="0"/>
              <a:buChar char="o"/>
            </a:pPr>
            <a:r>
              <a:rPr lang="en-US" sz="1300"/>
              <a:t>79%, The estimated amount of runners who sustained an injury that interferes with running activity during any given year.</a:t>
            </a:r>
          </a:p>
          <a:p>
            <a:pPr lvl="1">
              <a:buFont typeface="Courier New" panose="020B0604020202020204" pitchFamily="34" charset="0"/>
              <a:buChar char="o"/>
            </a:pPr>
            <a:r>
              <a:rPr lang="en-US" sz="1300"/>
              <a:t>50-70%, The range of running injuries that are overuse injuries, which are directly linked to repetitive stress from poor biomechanics.</a:t>
            </a:r>
          </a:p>
          <a:p>
            <a:pPr lvl="1">
              <a:buFont typeface="Courier New" panose="020B0604020202020204" pitchFamily="34" charset="0"/>
              <a:buChar char="o"/>
            </a:pPr>
            <a:r>
              <a:rPr lang="en-US" sz="1300"/>
              <a:t>20 to 40 times, The magnitude of increase in the average runner's injury risk when transitioning from low to high mileage without correcting underlying form flaws. </a:t>
            </a:r>
          </a:p>
          <a:p>
            <a:r>
              <a:rPr lang="en-US" sz="1300">
                <a:ea typeface="+mn-lt"/>
                <a:cs typeface="+mn-lt"/>
              </a:rPr>
              <a:t>Biomechanics and Impact (Why the Solution Works)</a:t>
            </a:r>
          </a:p>
          <a:p>
            <a:pPr lvl="1">
              <a:buFont typeface="Courier New,monospace" panose="020B0604020202020204" pitchFamily="34" charset="0"/>
              <a:buChar char="o"/>
            </a:pPr>
            <a:r>
              <a:rPr lang="en-US" sz="1300">
                <a:ea typeface="+mn-lt"/>
                <a:cs typeface="+mn-lt"/>
              </a:rPr>
              <a:t>170-180 steps per minute, The widely accepted "optimal" cadence range for reducing impact forces. </a:t>
            </a:r>
          </a:p>
          <a:p>
            <a:pPr lvl="1">
              <a:buFont typeface="Courier New,monospace" panose="020B0604020202020204" pitchFamily="34" charset="0"/>
              <a:buChar char="o"/>
            </a:pPr>
            <a:r>
              <a:rPr lang="en-US" sz="1300">
                <a:ea typeface="+mn-lt"/>
                <a:cs typeface="+mn-lt"/>
              </a:rPr>
              <a:t>5-10%, The required increase in a runner's cadence shown to significantly reduce stress on the hip, knee, and ankle joints. Your device provides the data needed for this precise adjustment.</a:t>
            </a:r>
          </a:p>
          <a:p>
            <a:pPr lvl="1">
              <a:buFont typeface="Courier New,monospace" panose="020B0604020202020204" pitchFamily="34" charset="0"/>
              <a:buChar char="o"/>
            </a:pPr>
            <a:r>
              <a:rPr lang="en-US" sz="1300">
                <a:ea typeface="+mn-lt"/>
                <a:cs typeface="+mn-lt"/>
              </a:rPr>
              <a:t>2.5-3.5 times body weight, The typical peak vertical ground reaction force experienced during running. Monitoring and reducing force is the best way to prevent bone stress injuries.</a:t>
            </a:r>
          </a:p>
          <a:p>
            <a:r>
              <a:rPr lang="en-US" sz="1300">
                <a:ea typeface="+mn-lt"/>
                <a:cs typeface="+mn-lt"/>
              </a:rPr>
              <a:t>Cost &amp; Accessibility (Why Our Project is Necessary)</a:t>
            </a:r>
          </a:p>
          <a:p>
            <a:pPr lvl="1">
              <a:buFont typeface="Courier New" panose="020B0604020202020204" pitchFamily="34" charset="0"/>
              <a:buChar char="o"/>
            </a:pPr>
            <a:r>
              <a:rPr lang="en-US" sz="1300"/>
              <a:t>$350 to $500, The average cost for a single, professional in-lab gait analysis session.</a:t>
            </a:r>
          </a:p>
          <a:p>
            <a:pPr lvl="1">
              <a:buFont typeface="Courier New" panose="020B0604020202020204" pitchFamily="34" charset="0"/>
              <a:buChar char="o"/>
            </a:pPr>
            <a:r>
              <a:rPr lang="en-US" sz="1300"/>
              <a:t>&lt;$60, Our project's estimated bill of materials cost. </a:t>
            </a:r>
          </a:p>
          <a:p>
            <a:pPr lvl="1">
              <a:buFont typeface="Courier New" panose="020B0604020202020204" pitchFamily="34" charset="0"/>
              <a:buChar char="o"/>
            </a:pPr>
            <a:r>
              <a:rPr lang="en-US" sz="1300"/>
              <a:t>4 to 8 weeks,  The typical length of time a runner may need physical therapy for a moderate overuse injury.</a:t>
            </a:r>
          </a:p>
        </p:txBody>
      </p:sp>
      <p:pic>
        <p:nvPicPr>
          <p:cNvPr id="4" name="Picture 3" descr="A diagram of a person running&#10;&#10;AI-generated content may be incorrect.">
            <a:extLst>
              <a:ext uri="{FF2B5EF4-FFF2-40B4-BE49-F238E27FC236}">
                <a16:creationId xmlns:a16="http://schemas.microsoft.com/office/drawing/2014/main" id="{7399DEDE-0DD0-73FF-582B-BEB154DEF77B}"/>
              </a:ext>
            </a:extLst>
          </p:cNvPr>
          <p:cNvPicPr>
            <a:picLocks noChangeAspect="1"/>
          </p:cNvPicPr>
          <p:nvPr/>
        </p:nvPicPr>
        <p:blipFill>
          <a:blip r:embed="rId2"/>
          <a:srcRect l="3795" r="-3" b="-3"/>
          <a:stretch>
            <a:fillRect/>
          </a:stretch>
        </p:blipFill>
        <p:spPr>
          <a:xfrm>
            <a:off x="8247158" y="2124456"/>
            <a:ext cx="3941064" cy="4096512"/>
          </a:xfrm>
          <a:prstGeom prst="rect">
            <a:avLst/>
          </a:prstGeom>
        </p:spPr>
      </p:pic>
    </p:spTree>
    <p:extLst>
      <p:ext uri="{BB962C8B-B14F-4D97-AF65-F5344CB8AC3E}">
        <p14:creationId xmlns:p14="http://schemas.microsoft.com/office/powerpoint/2010/main" val="1163506302"/>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167379-D901-BFEE-BF0A-D51208328652}"/>
              </a:ext>
            </a:extLst>
          </p:cNvPr>
          <p:cNvSpPr>
            <a:spLocks noGrp="1"/>
          </p:cNvSpPr>
          <p:nvPr>
            <p:ph type="title"/>
          </p:nvPr>
        </p:nvSpPr>
        <p:spPr>
          <a:xfrm>
            <a:off x="640080" y="325369"/>
            <a:ext cx="4368602" cy="1956841"/>
          </a:xfrm>
        </p:spPr>
        <p:txBody>
          <a:bodyPr anchor="b">
            <a:normAutofit/>
          </a:bodyPr>
          <a:lstStyle/>
          <a:p>
            <a:r>
              <a:rPr lang="en-US" sz="5400"/>
              <a:t>Gathering info</a:t>
            </a:r>
          </a:p>
        </p:txBody>
      </p:sp>
      <p:sp>
        <p:nvSpPr>
          <p:cNvPr id="2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6A4A921-E775-66C6-DC84-D8690E261089}"/>
              </a:ext>
            </a:extLst>
          </p:cNvPr>
          <p:cNvSpPr>
            <a:spLocks noGrp="1"/>
          </p:cNvSpPr>
          <p:nvPr>
            <p:ph idx="1"/>
          </p:nvPr>
        </p:nvSpPr>
        <p:spPr>
          <a:xfrm>
            <a:off x="640080" y="2872899"/>
            <a:ext cx="4243589" cy="3320668"/>
          </a:xfrm>
        </p:spPr>
        <p:txBody>
          <a:bodyPr vert="horz" lIns="91440" tIns="45720" rIns="91440" bIns="45720" rtlCol="0">
            <a:normAutofit/>
          </a:bodyPr>
          <a:lstStyle/>
          <a:p>
            <a:pPr marL="0" indent="0">
              <a:buNone/>
            </a:pPr>
            <a:r>
              <a:rPr lang="en-US" sz="2000"/>
              <a:t>We found our information primarily from online research on various topics within our project. Information we gathered from this research included analyzing both developed commercial products and patented technologies that address gait analysis. One of the main things we were looking at was the cost versus data trade off in existing products that work.</a:t>
            </a:r>
          </a:p>
          <a:p>
            <a:endParaRPr lang="en-US" sz="2000"/>
          </a:p>
          <a:p>
            <a:pPr lvl="2">
              <a:buFont typeface="Wingdings,Sans-Serif" panose="020B0604020202020204" pitchFamily="34" charset="0"/>
              <a:buChar char="§"/>
            </a:pPr>
            <a:endParaRPr lang="en-US" b="1"/>
          </a:p>
          <a:p>
            <a:pPr lvl="1">
              <a:buFont typeface="Courier New,monospace" panose="020B0604020202020204" pitchFamily="34" charset="0"/>
              <a:buChar char="o"/>
            </a:pPr>
            <a:endParaRPr lang="en-US" sz="2000"/>
          </a:p>
          <a:p>
            <a:endParaRPr lang="en-US" sz="2000"/>
          </a:p>
        </p:txBody>
      </p:sp>
      <p:pic>
        <p:nvPicPr>
          <p:cNvPr id="6" name="Picture 5" descr="A person writing on a notebook&#10;&#10;AI-generated content may be incorrect.">
            <a:extLst>
              <a:ext uri="{FF2B5EF4-FFF2-40B4-BE49-F238E27FC236}">
                <a16:creationId xmlns:a16="http://schemas.microsoft.com/office/drawing/2014/main" id="{672010F9-901A-5367-D0AE-FD0469D45A14}"/>
              </a:ext>
            </a:extLst>
          </p:cNvPr>
          <p:cNvPicPr>
            <a:picLocks noChangeAspect="1"/>
          </p:cNvPicPr>
          <p:nvPr/>
        </p:nvPicPr>
        <p:blipFill>
          <a:blip r:embed="rId2">
            <a:extLst>
              <a:ext uri="{837473B0-CC2E-450A-ABE3-18F120FF3D39}">
                <a1611:picAttrSrcUrl xmlns:a1611="http://schemas.microsoft.com/office/drawing/2016/11/main" r:id="rId3"/>
              </a:ext>
            </a:extLst>
          </a:blip>
          <a:srcRect l="35775" r="6719"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TextBox 4">
            <a:extLst>
              <a:ext uri="{FF2B5EF4-FFF2-40B4-BE49-F238E27FC236}">
                <a16:creationId xmlns:a16="http://schemas.microsoft.com/office/drawing/2014/main" id="{FA6BEFC6-6326-D9C3-DEDA-63017E465B84}"/>
              </a:ext>
            </a:extLst>
          </p:cNvPr>
          <p:cNvSpPr txBox="1"/>
          <p:nvPr/>
        </p:nvSpPr>
        <p:spPr>
          <a:xfrm>
            <a:off x="4776994" y="7243831"/>
            <a:ext cx="4658968" cy="196022"/>
          </a:xfrm>
          <a:prstGeom prst="rect">
            <a:avLst/>
          </a:prstGeom>
        </p:spPr>
        <p:txBody>
          <a:bodyPr>
            <a:normAutofit/>
          </a:bodyPr>
          <a:lstStyle/>
          <a:p>
            <a:pPr>
              <a:lnSpc>
                <a:spcPct val="90000"/>
              </a:lnSpc>
              <a:spcAft>
                <a:spcPts val="600"/>
              </a:spcAft>
            </a:pPr>
            <a:r>
              <a:rPr lang="en-US" sz="700"/>
              <a:t>ThePhoto by PhotoAuthor is licensed under CCYYSA.</a:t>
            </a:r>
          </a:p>
        </p:txBody>
      </p:sp>
      <p:sp>
        <p:nvSpPr>
          <p:cNvPr id="7" name="TextBox 6">
            <a:extLst>
              <a:ext uri="{FF2B5EF4-FFF2-40B4-BE49-F238E27FC236}">
                <a16:creationId xmlns:a16="http://schemas.microsoft.com/office/drawing/2014/main" id="{BA4D3F70-94C1-DF27-DE72-BB7589764F3C}"/>
              </a:ext>
            </a:extLst>
          </p:cNvPr>
          <p:cNvSpPr txBox="1"/>
          <p:nvPr/>
        </p:nvSpPr>
        <p:spPr>
          <a:xfrm>
            <a:off x="2842779" y="7818293"/>
            <a:ext cx="7143750" cy="317500"/>
          </a:xfrm>
          <a:prstGeom prst="rect">
            <a:avLst/>
          </a:prstGeom>
        </p:spPr>
        <p:txBody>
          <a:bodyPr>
            <a:normAutofit/>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23935576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54C64F-C188-FC76-49F5-02F7D1A045BC}"/>
              </a:ext>
            </a:extLst>
          </p:cNvPr>
          <p:cNvSpPr>
            <a:spLocks noGrp="1"/>
          </p:cNvSpPr>
          <p:nvPr>
            <p:ph type="title"/>
          </p:nvPr>
        </p:nvSpPr>
        <p:spPr>
          <a:xfrm>
            <a:off x="630936" y="639520"/>
            <a:ext cx="3429000" cy="1719072"/>
          </a:xfrm>
        </p:spPr>
        <p:txBody>
          <a:bodyPr anchor="b">
            <a:normAutofit/>
          </a:bodyPr>
          <a:lstStyle/>
          <a:p>
            <a:r>
              <a:rPr lang="en-US" sz="5400"/>
              <a:t>Similar patents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B3173A9-3460-8415-02E6-D3C74F19C680}"/>
              </a:ext>
            </a:extLst>
          </p:cNvPr>
          <p:cNvSpPr>
            <a:spLocks noGrp="1"/>
          </p:cNvSpPr>
          <p:nvPr>
            <p:ph idx="1"/>
          </p:nvPr>
        </p:nvSpPr>
        <p:spPr>
          <a:xfrm>
            <a:off x="630936" y="2807208"/>
            <a:ext cx="3429000" cy="3410712"/>
          </a:xfrm>
        </p:spPr>
        <p:txBody>
          <a:bodyPr anchor="t">
            <a:normAutofit/>
          </a:bodyPr>
          <a:lstStyle/>
          <a:p>
            <a:endParaRPr lang="en-US" sz="2200"/>
          </a:p>
        </p:txBody>
      </p:sp>
      <p:pic>
        <p:nvPicPr>
          <p:cNvPr id="5" name="Picture 4" descr="A diagram of a computer system&#10;&#10;AI-generated content may be incorrect.">
            <a:extLst>
              <a:ext uri="{FF2B5EF4-FFF2-40B4-BE49-F238E27FC236}">
                <a16:creationId xmlns:a16="http://schemas.microsoft.com/office/drawing/2014/main" id="{0E36926A-9DD4-5A9C-C65B-1AED9D770810}"/>
              </a:ext>
            </a:extLst>
          </p:cNvPr>
          <p:cNvPicPr>
            <a:picLocks noChangeAspect="1"/>
          </p:cNvPicPr>
          <p:nvPr/>
        </p:nvPicPr>
        <p:blipFill>
          <a:blip r:embed="rId2"/>
          <a:stretch>
            <a:fillRect/>
          </a:stretch>
        </p:blipFill>
        <p:spPr>
          <a:xfrm>
            <a:off x="4654296" y="1193919"/>
            <a:ext cx="6903720" cy="4470162"/>
          </a:xfrm>
          <a:prstGeom prst="rect">
            <a:avLst/>
          </a:prstGeom>
        </p:spPr>
      </p:pic>
    </p:spTree>
    <p:extLst>
      <p:ext uri="{BB962C8B-B14F-4D97-AF65-F5344CB8AC3E}">
        <p14:creationId xmlns:p14="http://schemas.microsoft.com/office/powerpoint/2010/main" val="37240799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1F55C5D-1648-4BE3-932D-8CADBF3F6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8E0C2B-3C56-6D24-59ED-D96EA46FFF32}"/>
              </a:ext>
            </a:extLst>
          </p:cNvPr>
          <p:cNvSpPr>
            <a:spLocks noGrp="1"/>
          </p:cNvSpPr>
          <p:nvPr>
            <p:ph type="title"/>
          </p:nvPr>
        </p:nvSpPr>
        <p:spPr>
          <a:xfrm>
            <a:off x="640080" y="667512"/>
            <a:ext cx="10908792" cy="1069848"/>
          </a:xfrm>
        </p:spPr>
        <p:txBody>
          <a:bodyPr vert="horz" lIns="91440" tIns="45720" rIns="91440" bIns="45720" rtlCol="0" anchor="ctr">
            <a:normAutofit/>
          </a:bodyPr>
          <a:lstStyle/>
          <a:p>
            <a:pPr algn="ctr"/>
            <a:r>
              <a:rPr lang="en-US" sz="5400"/>
              <a:t>Similar Patents</a:t>
            </a:r>
          </a:p>
        </p:txBody>
      </p:sp>
      <p:sp>
        <p:nvSpPr>
          <p:cNvPr id="9" name="TextBox 8">
            <a:extLst>
              <a:ext uri="{FF2B5EF4-FFF2-40B4-BE49-F238E27FC236}">
                <a16:creationId xmlns:a16="http://schemas.microsoft.com/office/drawing/2014/main" id="{64A93155-7A83-D6DB-AB02-6F12BD52816A}"/>
              </a:ext>
            </a:extLst>
          </p:cNvPr>
          <p:cNvSpPr txBox="1"/>
          <p:nvPr/>
        </p:nvSpPr>
        <p:spPr>
          <a:xfrm>
            <a:off x="5641571" y="3989832"/>
            <a:ext cx="3455047" cy="128293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Bef>
                <a:spcPts val="1000"/>
              </a:spcBef>
            </a:pPr>
            <a:r>
              <a:rPr lang="en-US" sz="2200"/>
              <a:t>Pros</a:t>
            </a:r>
            <a:endParaRPr lang="en-US"/>
          </a:p>
          <a:p>
            <a:pPr marL="742950" lvl="1" indent="-285750">
              <a:lnSpc>
                <a:spcPct val="90000"/>
              </a:lnSpc>
              <a:spcBef>
                <a:spcPts val="1000"/>
              </a:spcBef>
              <a:buFont typeface="Arial"/>
              <a:buChar char="•"/>
            </a:pPr>
            <a:r>
              <a:rPr lang="en-US" sz="2200"/>
              <a:t>Provides detailed feedback</a:t>
            </a:r>
          </a:p>
          <a:p>
            <a:pPr marL="742950" lvl="1" indent="-285750">
              <a:lnSpc>
                <a:spcPct val="90000"/>
              </a:lnSpc>
              <a:spcBef>
                <a:spcPts val="1000"/>
              </a:spcBef>
              <a:buFont typeface="Arial"/>
              <a:buChar char="•"/>
            </a:pPr>
            <a:r>
              <a:rPr lang="en-US" sz="2200"/>
              <a:t>Pinpoints mistakes</a:t>
            </a:r>
          </a:p>
          <a:p>
            <a:pPr marL="0" lvl="1">
              <a:lnSpc>
                <a:spcPct val="90000"/>
              </a:lnSpc>
              <a:spcBef>
                <a:spcPts val="1000"/>
              </a:spcBef>
            </a:pPr>
            <a:endParaRPr lang="en-US" sz="2400"/>
          </a:p>
        </p:txBody>
      </p:sp>
      <p:sp>
        <p:nvSpPr>
          <p:cNvPr id="28" name="sketch line">
            <a:extLst>
              <a:ext uri="{FF2B5EF4-FFF2-40B4-BE49-F238E27FC236}">
                <a16:creationId xmlns:a16="http://schemas.microsoft.com/office/drawing/2014/main" id="{A38E1331-B5A6-44BE-BF4E-EE6C2FD2A2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0000" y="1776977"/>
            <a:ext cx="4572000" cy="18288"/>
          </a:xfrm>
          <a:custGeom>
            <a:avLst/>
            <a:gdLst>
              <a:gd name="csX0" fmla="*/ 0 w 4572000"/>
              <a:gd name="csY0" fmla="*/ 0 h 18288"/>
              <a:gd name="csX1" fmla="*/ 744583 w 4572000"/>
              <a:gd name="csY1" fmla="*/ 0 h 18288"/>
              <a:gd name="csX2" fmla="*/ 1352006 w 4572000"/>
              <a:gd name="csY2" fmla="*/ 0 h 18288"/>
              <a:gd name="csX3" fmla="*/ 2050869 w 4572000"/>
              <a:gd name="csY3" fmla="*/ 0 h 18288"/>
              <a:gd name="csX4" fmla="*/ 2612571 w 4572000"/>
              <a:gd name="csY4" fmla="*/ 0 h 18288"/>
              <a:gd name="csX5" fmla="*/ 3357154 w 4572000"/>
              <a:gd name="csY5" fmla="*/ 0 h 18288"/>
              <a:gd name="csX6" fmla="*/ 4010297 w 4572000"/>
              <a:gd name="csY6" fmla="*/ 0 h 18288"/>
              <a:gd name="csX7" fmla="*/ 4572000 w 4572000"/>
              <a:gd name="csY7" fmla="*/ 0 h 18288"/>
              <a:gd name="csX8" fmla="*/ 4572000 w 4572000"/>
              <a:gd name="csY8" fmla="*/ 18288 h 18288"/>
              <a:gd name="csX9" fmla="*/ 3873137 w 4572000"/>
              <a:gd name="csY9" fmla="*/ 18288 h 18288"/>
              <a:gd name="csX10" fmla="*/ 3265714 w 4572000"/>
              <a:gd name="csY10" fmla="*/ 18288 h 18288"/>
              <a:gd name="csX11" fmla="*/ 2521131 w 4572000"/>
              <a:gd name="csY11" fmla="*/ 18288 h 18288"/>
              <a:gd name="csX12" fmla="*/ 1867989 w 4572000"/>
              <a:gd name="csY12" fmla="*/ 18288 h 18288"/>
              <a:gd name="csX13" fmla="*/ 1352006 w 4572000"/>
              <a:gd name="csY13" fmla="*/ 18288 h 18288"/>
              <a:gd name="csX14" fmla="*/ 83602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335213" y="-5275"/>
                  <a:pt x="446637" y="2749"/>
                  <a:pt x="744583" y="0"/>
                </a:cubicBezTo>
                <a:cubicBezTo>
                  <a:pt x="1042529" y="-2749"/>
                  <a:pt x="1223095" y="8165"/>
                  <a:pt x="1352006" y="0"/>
                </a:cubicBezTo>
                <a:cubicBezTo>
                  <a:pt x="1480917" y="-8165"/>
                  <a:pt x="1803308" y="16240"/>
                  <a:pt x="2050869" y="0"/>
                </a:cubicBezTo>
                <a:cubicBezTo>
                  <a:pt x="2298430" y="-16240"/>
                  <a:pt x="2464656" y="-22054"/>
                  <a:pt x="2612571" y="0"/>
                </a:cubicBezTo>
                <a:cubicBezTo>
                  <a:pt x="2760486" y="22054"/>
                  <a:pt x="3034874" y="11895"/>
                  <a:pt x="3357154" y="0"/>
                </a:cubicBezTo>
                <a:cubicBezTo>
                  <a:pt x="3679434" y="-11895"/>
                  <a:pt x="3778145" y="-10841"/>
                  <a:pt x="4010297" y="0"/>
                </a:cubicBezTo>
                <a:cubicBezTo>
                  <a:pt x="4242449" y="10841"/>
                  <a:pt x="4385860" y="17261"/>
                  <a:pt x="4572000" y="0"/>
                </a:cubicBezTo>
                <a:cubicBezTo>
                  <a:pt x="4571443" y="8172"/>
                  <a:pt x="4571244" y="10948"/>
                  <a:pt x="4572000" y="18288"/>
                </a:cubicBezTo>
                <a:cubicBezTo>
                  <a:pt x="4352099" y="1269"/>
                  <a:pt x="4065933" y="40755"/>
                  <a:pt x="3873137" y="18288"/>
                </a:cubicBezTo>
                <a:cubicBezTo>
                  <a:pt x="3680341" y="-4179"/>
                  <a:pt x="3486903" y="33471"/>
                  <a:pt x="3265714" y="18288"/>
                </a:cubicBezTo>
                <a:cubicBezTo>
                  <a:pt x="3044525" y="3105"/>
                  <a:pt x="2683548" y="-1073"/>
                  <a:pt x="2521131" y="18288"/>
                </a:cubicBezTo>
                <a:cubicBezTo>
                  <a:pt x="2358714" y="37649"/>
                  <a:pt x="2132855" y="34593"/>
                  <a:pt x="1867989" y="18288"/>
                </a:cubicBezTo>
                <a:cubicBezTo>
                  <a:pt x="1603123" y="1983"/>
                  <a:pt x="1605373" y="2886"/>
                  <a:pt x="1352006" y="18288"/>
                </a:cubicBezTo>
                <a:cubicBezTo>
                  <a:pt x="1098639" y="33690"/>
                  <a:pt x="962100" y="16241"/>
                  <a:pt x="836023" y="18288"/>
                </a:cubicBezTo>
                <a:cubicBezTo>
                  <a:pt x="709946" y="20335"/>
                  <a:pt x="193668" y="-307"/>
                  <a:pt x="0" y="18288"/>
                </a:cubicBezTo>
                <a:cubicBezTo>
                  <a:pt x="-277" y="11188"/>
                  <a:pt x="-244" y="5848"/>
                  <a:pt x="0" y="0"/>
                </a:cubicBezTo>
                <a:close/>
              </a:path>
              <a:path w="4572000" h="18288" stroke="0" extrusionOk="0">
                <a:moveTo>
                  <a:pt x="0" y="0"/>
                </a:moveTo>
                <a:cubicBezTo>
                  <a:pt x="158188" y="7508"/>
                  <a:pt x="361578" y="-27091"/>
                  <a:pt x="561703" y="0"/>
                </a:cubicBezTo>
                <a:cubicBezTo>
                  <a:pt x="761828" y="27091"/>
                  <a:pt x="1133811" y="14547"/>
                  <a:pt x="1306286" y="0"/>
                </a:cubicBezTo>
                <a:cubicBezTo>
                  <a:pt x="1478761" y="-14547"/>
                  <a:pt x="1809594" y="13320"/>
                  <a:pt x="2050869" y="0"/>
                </a:cubicBezTo>
                <a:cubicBezTo>
                  <a:pt x="2292144" y="-13320"/>
                  <a:pt x="2409269" y="-14334"/>
                  <a:pt x="2612571" y="0"/>
                </a:cubicBezTo>
                <a:cubicBezTo>
                  <a:pt x="2815873" y="14334"/>
                  <a:pt x="3025009" y="33536"/>
                  <a:pt x="3311434" y="0"/>
                </a:cubicBezTo>
                <a:cubicBezTo>
                  <a:pt x="3597859" y="-33536"/>
                  <a:pt x="3695431" y="-13462"/>
                  <a:pt x="3827417" y="0"/>
                </a:cubicBezTo>
                <a:cubicBezTo>
                  <a:pt x="3959403" y="13462"/>
                  <a:pt x="4360180" y="899"/>
                  <a:pt x="4572000" y="0"/>
                </a:cubicBezTo>
                <a:cubicBezTo>
                  <a:pt x="4572481" y="8890"/>
                  <a:pt x="4572898" y="10033"/>
                  <a:pt x="4572000" y="18288"/>
                </a:cubicBezTo>
                <a:cubicBezTo>
                  <a:pt x="4356830" y="5817"/>
                  <a:pt x="4021942" y="41441"/>
                  <a:pt x="3873137" y="18288"/>
                </a:cubicBezTo>
                <a:cubicBezTo>
                  <a:pt x="3724332" y="-4865"/>
                  <a:pt x="3494019" y="36771"/>
                  <a:pt x="3174274" y="18288"/>
                </a:cubicBezTo>
                <a:cubicBezTo>
                  <a:pt x="2854529" y="-195"/>
                  <a:pt x="2861023" y="5963"/>
                  <a:pt x="2658291" y="18288"/>
                </a:cubicBezTo>
                <a:cubicBezTo>
                  <a:pt x="2455559" y="30613"/>
                  <a:pt x="2309968" y="11711"/>
                  <a:pt x="2050869" y="18288"/>
                </a:cubicBezTo>
                <a:cubicBezTo>
                  <a:pt x="1791770" y="24865"/>
                  <a:pt x="1671115" y="-4587"/>
                  <a:pt x="1306286" y="18288"/>
                </a:cubicBezTo>
                <a:cubicBezTo>
                  <a:pt x="941457" y="41163"/>
                  <a:pt x="838619" y="-9452"/>
                  <a:pt x="653143" y="18288"/>
                </a:cubicBezTo>
                <a:cubicBezTo>
                  <a:pt x="467667" y="46028"/>
                  <a:pt x="308702" y="9245"/>
                  <a:pt x="0" y="18288"/>
                </a:cubicBezTo>
                <a:cubicBezTo>
                  <a:pt x="-4" y="10872"/>
                  <a:pt x="388" y="6748"/>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959150775">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F2522F3-F824-0FE7-020D-CB9E034FE151}"/>
              </a:ext>
            </a:extLst>
          </p:cNvPr>
          <p:cNvSpPr txBox="1"/>
          <p:nvPr/>
        </p:nvSpPr>
        <p:spPr>
          <a:xfrm>
            <a:off x="8775369" y="2778332"/>
            <a:ext cx="4339441" cy="10310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2800"/>
              <a:t>Patent number</a:t>
            </a:r>
          </a:p>
          <a:p>
            <a:pPr marL="914400" lvl="1" indent="-457200">
              <a:spcAft>
                <a:spcPts val="600"/>
              </a:spcAft>
              <a:buFont typeface="Arial"/>
              <a:buChar char="•"/>
            </a:pPr>
            <a:r>
              <a:rPr lang="en-US" sz="2800"/>
              <a:t>US7901325B2</a:t>
            </a:r>
          </a:p>
        </p:txBody>
      </p:sp>
      <p:sp>
        <p:nvSpPr>
          <p:cNvPr id="10" name="TextBox 9">
            <a:extLst>
              <a:ext uri="{FF2B5EF4-FFF2-40B4-BE49-F238E27FC236}">
                <a16:creationId xmlns:a16="http://schemas.microsoft.com/office/drawing/2014/main" id="{8C947554-C15D-3B32-0906-4AC170BCB2B8}"/>
              </a:ext>
            </a:extLst>
          </p:cNvPr>
          <p:cNvSpPr txBox="1"/>
          <p:nvPr/>
        </p:nvSpPr>
        <p:spPr>
          <a:xfrm>
            <a:off x="8781802" y="3986646"/>
            <a:ext cx="3320142" cy="26314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spcAft>
                <a:spcPts val="600"/>
              </a:spcAft>
            </a:pPr>
            <a:r>
              <a:rPr lang="en-US" sz="2200"/>
              <a:t>Cons</a:t>
            </a:r>
            <a:endParaRPr lang="en-US"/>
          </a:p>
          <a:p>
            <a:pPr marL="800100" lvl="1" indent="-342900">
              <a:spcAft>
                <a:spcPts val="600"/>
              </a:spcAft>
              <a:buFont typeface="Arial"/>
              <a:buChar char="•"/>
            </a:pPr>
            <a:r>
              <a:rPr lang="en-US" sz="2200"/>
              <a:t>Clunky</a:t>
            </a:r>
          </a:p>
          <a:p>
            <a:pPr marL="800100" lvl="1" indent="-342900">
              <a:spcAft>
                <a:spcPts val="600"/>
              </a:spcAft>
              <a:buFont typeface="Arial"/>
              <a:buChar char="•"/>
            </a:pPr>
            <a:r>
              <a:rPr lang="en-US" sz="2200"/>
              <a:t>If the sensors move at all then data become inaccurate</a:t>
            </a:r>
          </a:p>
          <a:p>
            <a:pPr marL="742950" lvl="1" indent="-285750">
              <a:spcAft>
                <a:spcPts val="600"/>
              </a:spcAft>
              <a:buFont typeface="Arial"/>
              <a:buChar char="•"/>
            </a:pPr>
            <a:endParaRPr lang="en-US"/>
          </a:p>
        </p:txBody>
      </p:sp>
      <p:sp>
        <p:nvSpPr>
          <p:cNvPr id="11" name="TextBox 10">
            <a:extLst>
              <a:ext uri="{FF2B5EF4-FFF2-40B4-BE49-F238E27FC236}">
                <a16:creationId xmlns:a16="http://schemas.microsoft.com/office/drawing/2014/main" id="{8218875F-C980-ADAF-94FE-8477F7C71043}"/>
              </a:ext>
            </a:extLst>
          </p:cNvPr>
          <p:cNvSpPr txBox="1"/>
          <p:nvPr/>
        </p:nvSpPr>
        <p:spPr>
          <a:xfrm>
            <a:off x="5902037" y="2784762"/>
            <a:ext cx="4187535" cy="12090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3000"/>
              <a:t>Date of patent</a:t>
            </a:r>
          </a:p>
          <a:p>
            <a:pPr marL="742950" lvl="1" indent="-285750">
              <a:lnSpc>
                <a:spcPct val="90000"/>
              </a:lnSpc>
              <a:spcBef>
                <a:spcPts val="500"/>
              </a:spcBef>
              <a:buFont typeface="Arial"/>
              <a:buChar char="•"/>
            </a:pPr>
            <a:r>
              <a:rPr lang="en-US" sz="2600"/>
              <a:t>03/08/2011</a:t>
            </a:r>
            <a:endParaRPr lang="en-US"/>
          </a:p>
          <a:p>
            <a:pPr algn="l"/>
            <a:endParaRPr lang="en-US"/>
          </a:p>
        </p:txBody>
      </p:sp>
      <p:sp>
        <p:nvSpPr>
          <p:cNvPr id="21" name="TextBox 20">
            <a:extLst>
              <a:ext uri="{FF2B5EF4-FFF2-40B4-BE49-F238E27FC236}">
                <a16:creationId xmlns:a16="http://schemas.microsoft.com/office/drawing/2014/main" id="{11EAB7F5-EC53-FCB5-1EDE-34C4E8817713}"/>
              </a:ext>
            </a:extLst>
          </p:cNvPr>
          <p:cNvSpPr txBox="1"/>
          <p:nvPr/>
        </p:nvSpPr>
        <p:spPr>
          <a:xfrm>
            <a:off x="-3465" y="2126674"/>
            <a:ext cx="5902038" cy="50593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90000"/>
              </a:lnSpc>
              <a:spcBef>
                <a:spcPts val="1000"/>
              </a:spcBef>
            </a:pPr>
            <a:r>
              <a:rPr lang="en-US" sz="2800"/>
              <a:t>Abstract</a:t>
            </a:r>
          </a:p>
          <a:p>
            <a:pPr marL="742950" lvl="1" indent="-285750">
              <a:lnSpc>
                <a:spcPct val="90000"/>
              </a:lnSpc>
              <a:spcBef>
                <a:spcPts val="500"/>
              </a:spcBef>
              <a:buFont typeface="Arial"/>
              <a:buChar char="•"/>
            </a:pPr>
            <a:r>
              <a:rPr lang="en-US" sz="1700">
                <a:solidFill>
                  <a:srgbClr val="333333"/>
                </a:solidFill>
                <a:latin typeface="Roboto"/>
                <a:ea typeface="Roboto"/>
                <a:cs typeface="Roboto"/>
              </a:rPr>
              <a:t>An apparatus, system, and method are disclosed for accurate measurement, compilation, and presentation of sprinting and running technique data. In one embodiment, the apparatus, system and method includes a knee pad configured to contain a knee pad sensor, a foot pad configured to contain a foot pad sensor and a main trunk that connects the foot pad and the kneepad. The knee pad sensor and the foot pad sensor sense movement near the sensors and contact to the sensors. Data from the sensors is output to a CPU. In one embodiment, the apparatus, system and method include arm sensors. The arm sensors sense arm movement of a user and report arm movement data to the CPU. In a further embodiment, the apparatus may be configured to contain a harness positioned opposite the main trunk.</a:t>
            </a:r>
            <a:endParaRPr lang="en-US"/>
          </a:p>
          <a:p>
            <a:pPr algn="l"/>
            <a:endParaRPr lang="en-US"/>
          </a:p>
        </p:txBody>
      </p:sp>
    </p:spTree>
    <p:extLst>
      <p:ext uri="{BB962C8B-B14F-4D97-AF65-F5344CB8AC3E}">
        <p14:creationId xmlns:p14="http://schemas.microsoft.com/office/powerpoint/2010/main" val="37221990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6AB3CC-FD72-D5BF-B28F-1755E260D409}"/>
              </a:ext>
            </a:extLst>
          </p:cNvPr>
          <p:cNvSpPr>
            <a:spLocks noGrp="1"/>
          </p:cNvSpPr>
          <p:nvPr>
            <p:ph type="title"/>
          </p:nvPr>
        </p:nvSpPr>
        <p:spPr>
          <a:xfrm>
            <a:off x="572493" y="238539"/>
            <a:ext cx="11047013" cy="1434415"/>
          </a:xfrm>
        </p:spPr>
        <p:txBody>
          <a:bodyPr anchor="b">
            <a:normAutofit/>
          </a:bodyPr>
          <a:lstStyle/>
          <a:p>
            <a:r>
              <a:rPr lang="en-US" sz="5400"/>
              <a:t>Similar devices</a:t>
            </a:r>
          </a:p>
        </p:txBody>
      </p:sp>
      <p:sp>
        <p:nvSpPr>
          <p:cNvPr id="7"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RunScribe Plus Review - Footpod ...">
            <a:extLst>
              <a:ext uri="{FF2B5EF4-FFF2-40B4-BE49-F238E27FC236}">
                <a16:creationId xmlns:a16="http://schemas.microsoft.com/office/drawing/2014/main" id="{65E4B58F-9DF1-6DB0-CE11-3E5FA91AD1BC}"/>
              </a:ext>
            </a:extLst>
          </p:cNvPr>
          <p:cNvPicPr>
            <a:picLocks noChangeAspect="1"/>
          </p:cNvPicPr>
          <p:nvPr/>
        </p:nvPicPr>
        <p:blipFill>
          <a:blip r:embed="rId2"/>
          <a:srcRect l="26329" r="20216" b="1"/>
          <a:stretch>
            <a:fillRect/>
          </a:stretch>
        </p:blipFill>
        <p:spPr>
          <a:xfrm>
            <a:off x="572492" y="2002056"/>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p:spPr>
      </p:pic>
      <p:sp>
        <p:nvSpPr>
          <p:cNvPr id="3" name="Content Placeholder 2">
            <a:extLst>
              <a:ext uri="{FF2B5EF4-FFF2-40B4-BE49-F238E27FC236}">
                <a16:creationId xmlns:a16="http://schemas.microsoft.com/office/drawing/2014/main" id="{CE3F87F4-5C96-EB82-D56C-7117F5BC714C}"/>
              </a:ext>
            </a:extLst>
          </p:cNvPr>
          <p:cNvSpPr>
            <a:spLocks noGrp="1"/>
          </p:cNvSpPr>
          <p:nvPr>
            <p:ph idx="1"/>
          </p:nvPr>
        </p:nvSpPr>
        <p:spPr>
          <a:xfrm>
            <a:off x="4905955" y="2071316"/>
            <a:ext cx="6713552" cy="4114800"/>
          </a:xfrm>
        </p:spPr>
        <p:txBody>
          <a:bodyPr vert="horz" lIns="91440" tIns="45720" rIns="91440" bIns="45720" rtlCol="0" anchor="t">
            <a:normAutofit/>
          </a:bodyPr>
          <a:lstStyle/>
          <a:p>
            <a:r>
              <a:rPr lang="en-US" sz="1700"/>
              <a:t>RunScribe</a:t>
            </a:r>
          </a:p>
          <a:p>
            <a:pPr lvl="1">
              <a:buFont typeface="Courier New" panose="020B0604020202020204" pitchFamily="34" charset="0"/>
              <a:buChar char="o"/>
            </a:pPr>
            <a:r>
              <a:rPr lang="en-US" sz="1700"/>
              <a:t>2 small compact devices that attaches to the laces of your shoes and tracks cadence and stride length and sends that data to an app that they have so that the user can see the data. </a:t>
            </a:r>
          </a:p>
          <a:p>
            <a:r>
              <a:rPr lang="en-US" sz="1700"/>
              <a:t>Price</a:t>
            </a:r>
          </a:p>
          <a:p>
            <a:pPr lvl="1">
              <a:buFont typeface="Courier New" panose="020B0604020202020204" pitchFamily="34" charset="0"/>
              <a:buChar char="o"/>
            </a:pPr>
            <a:r>
              <a:rPr lang="en-US" sz="1700"/>
              <a:t>600$</a:t>
            </a:r>
          </a:p>
          <a:p>
            <a:r>
              <a:rPr lang="en-US" sz="1700"/>
              <a:t>Pros</a:t>
            </a:r>
          </a:p>
          <a:p>
            <a:pPr lvl="1">
              <a:buFont typeface="Courier New" panose="020B0604020202020204" pitchFamily="34" charset="0"/>
              <a:buChar char="o"/>
            </a:pPr>
            <a:r>
              <a:rPr lang="en-US" sz="1700"/>
              <a:t>Small and compact</a:t>
            </a:r>
          </a:p>
          <a:p>
            <a:pPr lvl="1">
              <a:buFont typeface="Courier New" panose="020B0604020202020204" pitchFamily="34" charset="0"/>
              <a:buChar char="o"/>
            </a:pPr>
            <a:r>
              <a:rPr lang="en-US" sz="1700"/>
              <a:t>Measures and returns a bunch of different data</a:t>
            </a:r>
          </a:p>
          <a:p>
            <a:r>
              <a:rPr lang="en-US" sz="1700"/>
              <a:t>Cons</a:t>
            </a:r>
          </a:p>
          <a:p>
            <a:pPr lvl="1">
              <a:buFont typeface="Courier New" panose="020B0604020202020204" pitchFamily="34" charset="0"/>
              <a:buChar char="o"/>
            </a:pPr>
            <a:r>
              <a:rPr lang="en-US" sz="1700"/>
              <a:t>Expensive</a:t>
            </a:r>
          </a:p>
          <a:p>
            <a:pPr lvl="1">
              <a:buFont typeface="Courier New" panose="020B0604020202020204" pitchFamily="34" charset="0"/>
              <a:buChar char="o"/>
            </a:pPr>
            <a:r>
              <a:rPr lang="en-US" sz="1700"/>
              <a:t>Is out of business</a:t>
            </a:r>
          </a:p>
          <a:p>
            <a:pPr lvl="1">
              <a:buFont typeface="Courier New" panose="020B0604020202020204" pitchFamily="34" charset="0"/>
              <a:buChar char="o"/>
            </a:pPr>
            <a:endParaRPr lang="en-US" sz="1700"/>
          </a:p>
          <a:p>
            <a:pPr lvl="1">
              <a:buFont typeface="Courier New" panose="020B0604020202020204" pitchFamily="34" charset="0"/>
              <a:buChar char="o"/>
            </a:pPr>
            <a:endParaRPr lang="en-US" sz="1700"/>
          </a:p>
          <a:p>
            <a:endParaRPr lang="en-US" sz="1700"/>
          </a:p>
          <a:p>
            <a:pPr marL="457200" lvl="1" indent="0">
              <a:buNone/>
            </a:pPr>
            <a:endParaRPr lang="en-US" sz="1700"/>
          </a:p>
          <a:p>
            <a:pPr lvl="1">
              <a:buFont typeface="Courier New" panose="020B0604020202020204" pitchFamily="34" charset="0"/>
              <a:buChar char="o"/>
            </a:pPr>
            <a:endParaRPr lang="en-US" sz="1700"/>
          </a:p>
        </p:txBody>
      </p:sp>
    </p:spTree>
    <p:extLst>
      <p:ext uri="{BB962C8B-B14F-4D97-AF65-F5344CB8AC3E}">
        <p14:creationId xmlns:p14="http://schemas.microsoft.com/office/powerpoint/2010/main" val="407008431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9B02CC-C710-90FA-868F-3A2EC96A668E}"/>
              </a:ext>
            </a:extLst>
          </p:cNvPr>
          <p:cNvSpPr>
            <a:spLocks noGrp="1"/>
          </p:cNvSpPr>
          <p:nvPr>
            <p:ph type="title"/>
          </p:nvPr>
        </p:nvSpPr>
        <p:spPr>
          <a:xfrm>
            <a:off x="572493" y="238539"/>
            <a:ext cx="11018520" cy="1434415"/>
          </a:xfrm>
        </p:spPr>
        <p:txBody>
          <a:bodyPr anchor="b">
            <a:normAutofit/>
          </a:bodyPr>
          <a:lstStyle/>
          <a:p>
            <a:r>
              <a:rPr lang="en-US" sz="5400"/>
              <a:t>Similar devices</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9FAD434-3852-22FC-B6E8-4C93941B1FD0}"/>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n-US" sz="1700"/>
              <a:t>Stryd</a:t>
            </a:r>
          </a:p>
          <a:p>
            <a:pPr lvl="1">
              <a:buFont typeface="Courier New" panose="020B0604020202020204" pitchFamily="34" charset="0"/>
              <a:buChar char="o"/>
            </a:pPr>
            <a:r>
              <a:rPr lang="en-US" sz="1700"/>
              <a:t>A compact device that goes on the laces of your shoes and like RunScribe tracks cadence and stride length and sends that data to an app of theirs so that users can see the data </a:t>
            </a:r>
          </a:p>
          <a:p>
            <a:r>
              <a:rPr lang="en-US" sz="1700"/>
              <a:t>Price</a:t>
            </a:r>
          </a:p>
          <a:p>
            <a:pPr lvl="1">
              <a:buFont typeface="Courier New" panose="020B0604020202020204" pitchFamily="34" charset="0"/>
              <a:buChar char="o"/>
            </a:pPr>
            <a:r>
              <a:rPr lang="en-US" sz="1700"/>
              <a:t>200$ for their best version (stryd 5.0)</a:t>
            </a:r>
          </a:p>
          <a:p>
            <a:r>
              <a:rPr lang="en-US" sz="1700"/>
              <a:t>Pros</a:t>
            </a:r>
          </a:p>
          <a:p>
            <a:pPr lvl="1">
              <a:buFont typeface="Courier New" panose="020B0604020202020204" pitchFamily="34" charset="0"/>
              <a:buChar char="o"/>
            </a:pPr>
            <a:r>
              <a:rPr lang="en-US" sz="1700"/>
              <a:t>Instantaneous feedback</a:t>
            </a:r>
          </a:p>
          <a:p>
            <a:pPr lvl="1">
              <a:buFont typeface="Courier New" panose="020B0604020202020204" pitchFamily="34" charset="0"/>
              <a:buChar char="o"/>
            </a:pPr>
            <a:r>
              <a:rPr lang="en-US" sz="1700"/>
              <a:t>Highly accurate</a:t>
            </a:r>
          </a:p>
          <a:p>
            <a:r>
              <a:rPr lang="en-US" sz="1700"/>
              <a:t>Cons</a:t>
            </a:r>
          </a:p>
          <a:p>
            <a:pPr lvl="1">
              <a:buFont typeface="Courier New,monospace" panose="020B0604020202020204" pitchFamily="34" charset="0"/>
              <a:buChar char="o"/>
            </a:pPr>
            <a:r>
              <a:rPr lang="en-US" sz="1700"/>
              <a:t>Expensive</a:t>
            </a:r>
          </a:p>
          <a:p>
            <a:pPr lvl="1">
              <a:buFont typeface="Courier New,monospace" panose="020B0604020202020204" pitchFamily="34" charset="0"/>
              <a:buChar char="o"/>
            </a:pPr>
            <a:r>
              <a:rPr lang="en-US" sz="1700"/>
              <a:t>Uses a measurement system called power which isnt well known and requires a learning curve</a:t>
            </a:r>
          </a:p>
          <a:p>
            <a:pPr lvl="1">
              <a:buFont typeface="Courier New,monospace" panose="020B0604020202020204" pitchFamily="34" charset="0"/>
              <a:buChar char="o"/>
            </a:pPr>
            <a:endParaRPr lang="en-US" sz="1700"/>
          </a:p>
          <a:p>
            <a:pPr lvl="1">
              <a:buFont typeface="Courier New,monospace" panose="020B0604020202020204" pitchFamily="34" charset="0"/>
              <a:buChar char="o"/>
            </a:pPr>
            <a:endParaRPr lang="en-US" sz="1700"/>
          </a:p>
        </p:txBody>
      </p:sp>
      <p:pic>
        <p:nvPicPr>
          <p:cNvPr id="5" name="Picture 4" descr="Stryd announces new running power meter ...">
            <a:extLst>
              <a:ext uri="{FF2B5EF4-FFF2-40B4-BE49-F238E27FC236}">
                <a16:creationId xmlns:a16="http://schemas.microsoft.com/office/drawing/2014/main" id="{CBB3767A-316A-4DC0-5787-CF323B18F0F3}"/>
              </a:ext>
            </a:extLst>
          </p:cNvPr>
          <p:cNvPicPr>
            <a:picLocks noChangeAspect="1"/>
          </p:cNvPicPr>
          <p:nvPr/>
        </p:nvPicPr>
        <p:blipFill>
          <a:blip r:embed="rId2"/>
          <a:srcRect l="34860" r="1118" b="-1"/>
          <a:stretch>
            <a:fillRect/>
          </a:stretch>
        </p:blipFill>
        <p:spPr>
          <a:xfrm>
            <a:off x="7675658" y="2093976"/>
            <a:ext cx="3941064" cy="4096512"/>
          </a:xfrm>
          <a:prstGeom prst="rect">
            <a:avLst/>
          </a:prstGeom>
        </p:spPr>
      </p:pic>
    </p:spTree>
    <p:extLst>
      <p:ext uri="{BB962C8B-B14F-4D97-AF65-F5344CB8AC3E}">
        <p14:creationId xmlns:p14="http://schemas.microsoft.com/office/powerpoint/2010/main" val="37360608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1F62E5-651A-6337-3A71-7BC1B2BD98E8}"/>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RUNNER INFORMATION - Bank of America Chicago Marathon">
            <a:extLst>
              <a:ext uri="{FF2B5EF4-FFF2-40B4-BE49-F238E27FC236}">
                <a16:creationId xmlns:a16="http://schemas.microsoft.com/office/drawing/2014/main" id="{41466124-DB1A-C78C-27E4-4B4E7D0DCFCE}"/>
              </a:ext>
            </a:extLst>
          </p:cNvPr>
          <p:cNvPicPr>
            <a:picLocks noChangeAspect="1"/>
          </p:cNvPicPr>
          <p:nvPr/>
        </p:nvPicPr>
        <p:blipFill>
          <a:blip r:embed="rId2"/>
          <a:srcRect l="465" r="5208" b="-1"/>
          <a:stretch>
            <a:fillRect/>
          </a:stretch>
        </p:blipFill>
        <p:spPr>
          <a:xfrm>
            <a:off x="190499" y="-380990"/>
            <a:ext cx="10993689" cy="3241988"/>
          </a:xfrm>
          <a:prstGeom prst="rect">
            <a:avLst/>
          </a:prstGeom>
        </p:spPr>
      </p:pic>
      <p:grpSp>
        <p:nvGrpSpPr>
          <p:cNvPr id="17" name="Group 16">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14" name="Freeform: Shape 13">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1" name="Freeform: Shape 20">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0DE39DA3-A862-2F57-BB9D-C08A9253DC41}"/>
              </a:ext>
            </a:extLst>
          </p:cNvPr>
          <p:cNvSpPr>
            <a:spLocks noGrp="1"/>
          </p:cNvSpPr>
          <p:nvPr>
            <p:ph type="title"/>
          </p:nvPr>
        </p:nvSpPr>
        <p:spPr>
          <a:xfrm>
            <a:off x="103632" y="2676517"/>
            <a:ext cx="5021782" cy="1509931"/>
          </a:xfrm>
        </p:spPr>
        <p:txBody>
          <a:bodyPr>
            <a:normAutofit/>
          </a:bodyPr>
          <a:lstStyle/>
          <a:p>
            <a:r>
              <a:rPr lang="en-US" sz="3600">
                <a:latin typeface="Aptos"/>
              </a:rPr>
              <a:t>Primary Stake Holder </a:t>
            </a:r>
          </a:p>
        </p:txBody>
      </p:sp>
      <p:sp>
        <p:nvSpPr>
          <p:cNvPr id="3" name="Content Placeholder 2">
            <a:extLst>
              <a:ext uri="{FF2B5EF4-FFF2-40B4-BE49-F238E27FC236}">
                <a16:creationId xmlns:a16="http://schemas.microsoft.com/office/drawing/2014/main" id="{360DC024-FCD6-A1DE-E2F2-5B26A338B788}"/>
              </a:ext>
            </a:extLst>
          </p:cNvPr>
          <p:cNvSpPr>
            <a:spLocks noGrp="1"/>
          </p:cNvSpPr>
          <p:nvPr>
            <p:ph idx="1"/>
          </p:nvPr>
        </p:nvSpPr>
        <p:spPr>
          <a:xfrm>
            <a:off x="145647" y="4650097"/>
            <a:ext cx="4926411" cy="1509935"/>
          </a:xfrm>
        </p:spPr>
        <p:txBody>
          <a:bodyPr vert="horz" lIns="91440" tIns="45720" rIns="91440" bIns="45720" rtlCol="0" anchor="ctr">
            <a:noAutofit/>
          </a:bodyPr>
          <a:lstStyle/>
          <a:p>
            <a:r>
              <a:rPr lang="en-US" sz="1900" b="1">
                <a:ea typeface="+mn-lt"/>
                <a:cs typeface="+mn-lt"/>
              </a:rPr>
              <a:t>Users:</a:t>
            </a:r>
            <a:r>
              <a:rPr lang="en-US" sz="1900">
                <a:ea typeface="+mn-lt"/>
                <a:cs typeface="+mn-lt"/>
              </a:rPr>
              <a:t> Recreational runners and high school athletes</a:t>
            </a:r>
          </a:p>
          <a:p>
            <a:r>
              <a:rPr lang="en-US" sz="1900" b="1">
                <a:ea typeface="+mn-lt"/>
                <a:cs typeface="+mn-lt"/>
              </a:rPr>
              <a:t>Buyers:</a:t>
            </a:r>
            <a:r>
              <a:rPr lang="en-US" sz="1900">
                <a:ea typeface="+mn-lt"/>
                <a:cs typeface="+mn-lt"/>
              </a:rPr>
              <a:t> Parents, coaches, or school athletic departments.</a:t>
            </a:r>
            <a:endParaRPr lang="en-US" sz="1900"/>
          </a:p>
          <a:p>
            <a:r>
              <a:rPr lang="en-US" sz="1900" b="1">
                <a:ea typeface="+mn-lt"/>
                <a:cs typeface="+mn-lt"/>
              </a:rPr>
              <a:t>Sellers:</a:t>
            </a:r>
            <a:r>
              <a:rPr lang="en-US" sz="1900">
                <a:ea typeface="+mn-lt"/>
                <a:cs typeface="+mn-lt"/>
              </a:rPr>
              <a:t> E-commerce platforms and/or sporting goods stores.</a:t>
            </a:r>
            <a:endParaRPr lang="en-US" sz="1900"/>
          </a:p>
          <a:p>
            <a:r>
              <a:rPr lang="en-US" sz="1900" b="1">
                <a:ea typeface="+mn-lt"/>
                <a:cs typeface="+mn-lt"/>
              </a:rPr>
              <a:t>Manufacturers:</a:t>
            </a:r>
            <a:r>
              <a:rPr lang="en-US" sz="1900">
                <a:ea typeface="+mn-lt"/>
                <a:cs typeface="+mn-lt"/>
              </a:rPr>
              <a:t> Electronics assemblers.</a:t>
            </a:r>
            <a:endParaRPr lang="en-US" sz="1900"/>
          </a:p>
          <a:p>
            <a:endParaRPr lang="en-US" sz="1400">
              <a:solidFill>
                <a:schemeClr val="tx2"/>
              </a:solidFill>
            </a:endParaRPr>
          </a:p>
          <a:p>
            <a:endParaRPr lang="en-US" sz="1400">
              <a:solidFill>
                <a:schemeClr val="tx2"/>
              </a:solidFill>
            </a:endParaRPr>
          </a:p>
        </p:txBody>
      </p:sp>
      <p:sp>
        <p:nvSpPr>
          <p:cNvPr id="22" name="Title 1">
            <a:extLst>
              <a:ext uri="{FF2B5EF4-FFF2-40B4-BE49-F238E27FC236}">
                <a16:creationId xmlns:a16="http://schemas.microsoft.com/office/drawing/2014/main" id="{87CECCB4-3B56-B608-422E-5D205B7EDBAB}"/>
              </a:ext>
            </a:extLst>
          </p:cNvPr>
          <p:cNvSpPr txBox="1">
            <a:spLocks/>
          </p:cNvSpPr>
          <p:nvPr/>
        </p:nvSpPr>
        <p:spPr>
          <a:xfrm>
            <a:off x="5372100" y="2765425"/>
            <a:ext cx="10515600" cy="1325563"/>
          </a:xfrm>
          <a:prstGeom prst="rect">
            <a:avLst/>
          </a:prstGeom>
        </p:spPr>
        <p:txBody>
          <a:bodyPr vert="horz" lIns="91440" tIns="45720" rIns="91440" bIns="45720" rtlCol="0" anchor="ctr">
            <a:normAutofit/>
          </a:bodyPr>
          <a:lstStyle>
            <a:defPPr>
              <a:defRPr lang="en-US"/>
            </a:defPPr>
            <a:lvl1pPr marL="0" algn="l" defTabSz="914400" rtl="0" eaLnBrk="1" latinLnBrk="0" hangingPunct="1">
              <a:lnSpc>
                <a:spcPct val="90000"/>
              </a:lnSpc>
              <a:spcBef>
                <a:spcPct val="0"/>
              </a:spcBef>
              <a:buNone/>
              <a:defRPr sz="44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a:ea typeface="+mj-lt"/>
                <a:cs typeface="+mj-lt"/>
              </a:rPr>
              <a:t>Input on Design Requirements</a:t>
            </a:r>
            <a:endParaRPr lang="en-US" sz="3600"/>
          </a:p>
        </p:txBody>
      </p:sp>
      <p:sp>
        <p:nvSpPr>
          <p:cNvPr id="23" name="Content Placeholder 2">
            <a:extLst>
              <a:ext uri="{FF2B5EF4-FFF2-40B4-BE49-F238E27FC236}">
                <a16:creationId xmlns:a16="http://schemas.microsoft.com/office/drawing/2014/main" id="{06EBBD49-98E9-AE4F-3877-D6C0729A704B}"/>
              </a:ext>
            </a:extLst>
          </p:cNvPr>
          <p:cNvSpPr txBox="1">
            <a:spLocks/>
          </p:cNvSpPr>
          <p:nvPr/>
        </p:nvSpPr>
        <p:spPr>
          <a:xfrm>
            <a:off x="5318760" y="3898265"/>
            <a:ext cx="6256020" cy="2438718"/>
          </a:xfrm>
          <a:prstGeom prst="rect">
            <a:avLst/>
          </a:prstGeom>
        </p:spPr>
        <p:txBody>
          <a:bodyPr vert="horz" lIns="91440" tIns="45720" rIns="91440" bIns="45720" rtlCol="0" anchor="t">
            <a:no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900" b="1">
                <a:ea typeface="+mn-lt"/>
                <a:cs typeface="+mn-lt"/>
              </a:rPr>
              <a:t>Users/Buyers Input:</a:t>
            </a:r>
            <a:r>
              <a:rPr lang="en-US" sz="1900">
                <a:ea typeface="+mn-lt"/>
                <a:cs typeface="+mn-lt"/>
              </a:rPr>
              <a:t> We have estimated that cost tolerance would likely be under $75, and the device must</a:t>
            </a:r>
            <a:r>
              <a:rPr lang="en-US" sz="1900" b="1">
                <a:ea typeface="+mn-lt"/>
                <a:cs typeface="+mn-lt"/>
              </a:rPr>
              <a:t> </a:t>
            </a:r>
            <a:r>
              <a:rPr lang="en-US" sz="1900">
                <a:ea typeface="+mn-lt"/>
                <a:cs typeface="+mn-lt"/>
              </a:rPr>
              <a:t>be small enough not to interfere with stride or balance.</a:t>
            </a:r>
            <a:endParaRPr lang="en-US" sz="1900"/>
          </a:p>
          <a:p>
            <a:r>
              <a:rPr lang="en-US" sz="1900" b="1">
                <a:ea typeface="+mn-lt"/>
                <a:cs typeface="+mn-lt"/>
              </a:rPr>
              <a:t>Manufacturers Input:</a:t>
            </a:r>
            <a:r>
              <a:rPr lang="en-US" sz="1900">
                <a:ea typeface="+mn-lt"/>
                <a:cs typeface="+mn-lt"/>
              </a:rPr>
              <a:t> Component selection was limited to common, off-the-shelf microcontrollers and sensors (Arduino Nano, MPU-6050) to ensure low BOM and ease of assembly.</a:t>
            </a:r>
            <a:endParaRPr lang="en-US" sz="1900"/>
          </a:p>
          <a:p>
            <a:endParaRPr lang="en-US" sz="1900"/>
          </a:p>
        </p:txBody>
      </p:sp>
    </p:spTree>
    <p:extLst>
      <p:ext uri="{BB962C8B-B14F-4D97-AF65-F5344CB8AC3E}">
        <p14:creationId xmlns:p14="http://schemas.microsoft.com/office/powerpoint/2010/main" val="388197066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DAEE3-6201-C1FA-5C6A-F37CFD81211F}"/>
              </a:ext>
            </a:extLst>
          </p:cNvPr>
          <p:cNvSpPr>
            <a:spLocks noGrp="1"/>
          </p:cNvSpPr>
          <p:nvPr>
            <p:ph type="title"/>
          </p:nvPr>
        </p:nvSpPr>
        <p:spPr>
          <a:xfrm>
            <a:off x="6417733" y="490537"/>
            <a:ext cx="5291663" cy="1628775"/>
          </a:xfrm>
        </p:spPr>
        <p:txBody>
          <a:bodyPr anchor="b">
            <a:normAutofit/>
          </a:bodyPr>
          <a:lstStyle/>
          <a:p>
            <a:r>
              <a:rPr lang="en-US" sz="4000"/>
              <a:t>Communication Log </a:t>
            </a:r>
          </a:p>
        </p:txBody>
      </p:sp>
      <p:pic>
        <p:nvPicPr>
          <p:cNvPr id="4" name="Content Placeholder 3" descr="A screenshot of a communication log&#10;&#10;AI-generated content may be incorrect.">
            <a:extLst>
              <a:ext uri="{FF2B5EF4-FFF2-40B4-BE49-F238E27FC236}">
                <a16:creationId xmlns:a16="http://schemas.microsoft.com/office/drawing/2014/main" id="{EFE69653-32CB-5D46-D8F3-FDB9544606BB}"/>
              </a:ext>
            </a:extLst>
          </p:cNvPr>
          <p:cNvPicPr>
            <a:picLocks noChangeAspect="1"/>
          </p:cNvPicPr>
          <p:nvPr/>
        </p:nvPicPr>
        <p:blipFill>
          <a:blip r:embed="rId2"/>
          <a:srcRect t="1304" r="3" b="3"/>
          <a:stretch>
            <a:fillRect/>
          </a:stretch>
        </p:blipFill>
        <p:spPr>
          <a:xfrm>
            <a:off x="2" y="1587"/>
            <a:ext cx="6095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sp>
        <p:nvSpPr>
          <p:cNvPr id="8" name="Content Placeholder 7">
            <a:extLst>
              <a:ext uri="{FF2B5EF4-FFF2-40B4-BE49-F238E27FC236}">
                <a16:creationId xmlns:a16="http://schemas.microsoft.com/office/drawing/2014/main" id="{A22F9DC2-2196-6738-0ED2-241ACFE21E14}"/>
              </a:ext>
            </a:extLst>
          </p:cNvPr>
          <p:cNvSpPr>
            <a:spLocks noGrp="1"/>
          </p:cNvSpPr>
          <p:nvPr>
            <p:ph idx="1"/>
          </p:nvPr>
        </p:nvSpPr>
        <p:spPr>
          <a:xfrm>
            <a:off x="6417734" y="2614612"/>
            <a:ext cx="5291663" cy="3752849"/>
          </a:xfrm>
        </p:spPr>
        <p:txBody>
          <a:bodyPr vert="horz" lIns="91440" tIns="45720" rIns="91440" bIns="45720" rtlCol="0" anchor="t">
            <a:normAutofit/>
          </a:bodyPr>
          <a:lstStyle/>
          <a:p>
            <a:r>
              <a:rPr lang="en-US" sz="1800"/>
              <a:t>I reached out to </a:t>
            </a:r>
            <a:r>
              <a:rPr lang="en-US" sz="1800" err="1"/>
              <a:t>Tekscan</a:t>
            </a:r>
            <a:r>
              <a:rPr lang="en-US" sz="1800"/>
              <a:t> because I like their concept with the shoe insert and the ankle mount.</a:t>
            </a:r>
          </a:p>
          <a:p>
            <a:r>
              <a:rPr lang="en-US" sz="1800"/>
              <a:t>Did not receive an email back from their team</a:t>
            </a:r>
          </a:p>
          <a:p>
            <a:r>
              <a:rPr lang="en-US" sz="1800"/>
              <a:t>Planning on sending a follow up email next week.</a:t>
            </a:r>
          </a:p>
        </p:txBody>
      </p:sp>
    </p:spTree>
    <p:extLst>
      <p:ext uri="{BB962C8B-B14F-4D97-AF65-F5344CB8AC3E}">
        <p14:creationId xmlns:p14="http://schemas.microsoft.com/office/powerpoint/2010/main" val="580940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AEA7D6-4B58-55F2-9F2B-48413C1EADF4}"/>
              </a:ext>
            </a:extLst>
          </p:cNvPr>
          <p:cNvSpPr>
            <a:spLocks noGrp="1"/>
          </p:cNvSpPr>
          <p:nvPr>
            <p:ph type="title"/>
          </p:nvPr>
        </p:nvSpPr>
        <p:spPr>
          <a:xfrm>
            <a:off x="7320466" y="609600"/>
            <a:ext cx="4140014" cy="1330839"/>
          </a:xfrm>
        </p:spPr>
        <p:txBody>
          <a:bodyPr>
            <a:normAutofit/>
          </a:bodyPr>
          <a:lstStyle/>
          <a:p>
            <a:r>
              <a:rPr lang="en-US" sz="3400">
                <a:ea typeface="+mj-lt"/>
                <a:cs typeface="+mj-lt"/>
              </a:rPr>
              <a:t>Determination of Design Specifications</a:t>
            </a:r>
            <a:endParaRPr lang="en-US" sz="3400"/>
          </a:p>
        </p:txBody>
      </p:sp>
      <p:pic>
        <p:nvPicPr>
          <p:cNvPr id="6" name="Picture 5" descr="A diagram of a running device&#10;&#10;AI-generated content may be incorrect.">
            <a:extLst>
              <a:ext uri="{FF2B5EF4-FFF2-40B4-BE49-F238E27FC236}">
                <a16:creationId xmlns:a16="http://schemas.microsoft.com/office/drawing/2014/main" id="{F371FE4F-B615-5A76-336B-E287AC4A483A}"/>
              </a:ext>
            </a:extLst>
          </p:cNvPr>
          <p:cNvPicPr>
            <a:picLocks noChangeAspect="1"/>
          </p:cNvPicPr>
          <p:nvPr/>
        </p:nvPicPr>
        <p:blipFill>
          <a:blip r:embed="rId2"/>
          <a:srcRect r="-2" b="632"/>
          <a:stretch>
            <a:fillRect/>
          </a:stretch>
        </p:blipFill>
        <p:spPr>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p:spPr>
      </p:pic>
      <p:sp>
        <p:nvSpPr>
          <p:cNvPr id="3" name="Content Placeholder 2">
            <a:extLst>
              <a:ext uri="{FF2B5EF4-FFF2-40B4-BE49-F238E27FC236}">
                <a16:creationId xmlns:a16="http://schemas.microsoft.com/office/drawing/2014/main" id="{1C263BD5-48BA-AB16-1484-6B0654BEE9A2}"/>
              </a:ext>
            </a:extLst>
          </p:cNvPr>
          <p:cNvSpPr>
            <a:spLocks noGrp="1"/>
          </p:cNvSpPr>
          <p:nvPr>
            <p:ph idx="1"/>
          </p:nvPr>
        </p:nvSpPr>
        <p:spPr>
          <a:xfrm>
            <a:off x="7320465" y="2194102"/>
            <a:ext cx="4140013" cy="3908586"/>
          </a:xfrm>
        </p:spPr>
        <p:txBody>
          <a:bodyPr vert="horz" lIns="91440" tIns="45720" rIns="91440" bIns="45720" rtlCol="0">
            <a:normAutofit/>
          </a:bodyPr>
          <a:lstStyle/>
          <a:p>
            <a:r>
              <a:rPr lang="en-US" sz="1900">
                <a:ea typeface="+mn-lt"/>
                <a:cs typeface="+mn-lt"/>
              </a:rPr>
              <a:t>Our design specifications have been determined by balancing user focused needs with technical feasibility and cost constraints. The core objective is to achieve high accuracy for high-impact events without the high cost associated with lab equipment. Input from target users and technical research guides our prioritization of functional requirements over non-essential features, ensuring a minimum viable product that solves the core problem.</a:t>
            </a:r>
          </a:p>
          <a:p>
            <a:endParaRPr lang="en-US" sz="1900"/>
          </a:p>
        </p:txBody>
      </p:sp>
    </p:spTree>
    <p:extLst>
      <p:ext uri="{BB962C8B-B14F-4D97-AF65-F5344CB8AC3E}">
        <p14:creationId xmlns:p14="http://schemas.microsoft.com/office/powerpoint/2010/main" val="15508115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1739D9-172A-8CE4-AC14-657B9FF84741}"/>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332308-EF2C-8D27-AFC7-BD943BF50084}"/>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Design Specifications</a:t>
            </a:r>
          </a:p>
        </p:txBody>
      </p:sp>
      <p:pic>
        <p:nvPicPr>
          <p:cNvPr id="4" name="Picture 3" descr="A screenshot of a computer error message&#10;&#10;AI-generated content may be incorrect.">
            <a:extLst>
              <a:ext uri="{FF2B5EF4-FFF2-40B4-BE49-F238E27FC236}">
                <a16:creationId xmlns:a16="http://schemas.microsoft.com/office/drawing/2014/main" id="{96AC8EB0-B991-2280-95A9-907697D3AF0D}"/>
              </a:ext>
            </a:extLst>
          </p:cNvPr>
          <p:cNvPicPr>
            <a:picLocks noChangeAspect="1"/>
          </p:cNvPicPr>
          <p:nvPr/>
        </p:nvPicPr>
        <p:blipFill>
          <a:blip r:embed="rId2"/>
          <a:stretch>
            <a:fillRect/>
          </a:stretch>
        </p:blipFill>
        <p:spPr>
          <a:xfrm>
            <a:off x="723900" y="2421186"/>
            <a:ext cx="10744200" cy="3814191"/>
          </a:xfrm>
          <a:prstGeom prst="rect">
            <a:avLst/>
          </a:prstGeom>
        </p:spPr>
      </p:pic>
    </p:spTree>
    <p:extLst>
      <p:ext uri="{BB962C8B-B14F-4D97-AF65-F5344CB8AC3E}">
        <p14:creationId xmlns:p14="http://schemas.microsoft.com/office/powerpoint/2010/main" val="379553663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20103-BD9F-CA10-2243-43920FA7CC09}"/>
              </a:ext>
            </a:extLst>
          </p:cNvPr>
          <p:cNvSpPr>
            <a:spLocks noGrp="1"/>
          </p:cNvSpPr>
          <p:nvPr>
            <p:ph type="title"/>
          </p:nvPr>
        </p:nvSpPr>
        <p:spPr/>
        <p:txBody>
          <a:bodyPr/>
          <a:lstStyle/>
          <a:p>
            <a:r>
              <a:rPr lang="en-US"/>
              <a:t>Design concepts</a:t>
            </a:r>
          </a:p>
        </p:txBody>
      </p:sp>
      <p:pic>
        <p:nvPicPr>
          <p:cNvPr id="4" name="Content Placeholder 3" descr="A white board with writing on it&#10;&#10;AI-generated content may be incorrect.">
            <a:extLst>
              <a:ext uri="{FF2B5EF4-FFF2-40B4-BE49-F238E27FC236}">
                <a16:creationId xmlns:a16="http://schemas.microsoft.com/office/drawing/2014/main" id="{88DFB7AB-DE5F-FC69-05FA-98649BD35E82}"/>
              </a:ext>
            </a:extLst>
          </p:cNvPr>
          <p:cNvPicPr>
            <a:picLocks noGrp="1" noChangeAspect="1"/>
          </p:cNvPicPr>
          <p:nvPr>
            <p:ph idx="1"/>
          </p:nvPr>
        </p:nvPicPr>
        <p:blipFill>
          <a:blip r:embed="rId2"/>
          <a:stretch>
            <a:fillRect/>
          </a:stretch>
        </p:blipFill>
        <p:spPr>
          <a:xfrm rot="5400000">
            <a:off x="-540950" y="3048107"/>
            <a:ext cx="4352925" cy="3264693"/>
          </a:xfrm>
          <a:prstGeom prst="rect">
            <a:avLst/>
          </a:prstGeom>
        </p:spPr>
      </p:pic>
      <p:pic>
        <p:nvPicPr>
          <p:cNvPr id="5" name="Picture 4">
            <a:extLst>
              <a:ext uri="{FF2B5EF4-FFF2-40B4-BE49-F238E27FC236}">
                <a16:creationId xmlns:a16="http://schemas.microsoft.com/office/drawing/2014/main" id="{EBB2BAEB-D9EC-3218-37E4-8340B5FFB60F}"/>
              </a:ext>
            </a:extLst>
          </p:cNvPr>
          <p:cNvPicPr>
            <a:picLocks noChangeAspect="1"/>
          </p:cNvPicPr>
          <p:nvPr/>
        </p:nvPicPr>
        <p:blipFill>
          <a:blip r:embed="rId3"/>
          <a:stretch>
            <a:fillRect/>
          </a:stretch>
        </p:blipFill>
        <p:spPr>
          <a:xfrm rot="5400000">
            <a:off x="3714750" y="3126987"/>
            <a:ext cx="4358270" cy="3099111"/>
          </a:xfrm>
          <a:prstGeom prst="rect">
            <a:avLst/>
          </a:prstGeom>
        </p:spPr>
      </p:pic>
      <p:pic>
        <p:nvPicPr>
          <p:cNvPr id="6" name="Picture 5" descr="A white paper with writing on it&#10;&#10;AI-generated content may be incorrect.">
            <a:extLst>
              <a:ext uri="{FF2B5EF4-FFF2-40B4-BE49-F238E27FC236}">
                <a16:creationId xmlns:a16="http://schemas.microsoft.com/office/drawing/2014/main" id="{E682AAE2-3C20-C4C0-D4C8-BC9A054734DB}"/>
              </a:ext>
            </a:extLst>
          </p:cNvPr>
          <p:cNvPicPr>
            <a:picLocks noChangeAspect="1"/>
          </p:cNvPicPr>
          <p:nvPr/>
        </p:nvPicPr>
        <p:blipFill>
          <a:blip r:embed="rId4"/>
          <a:stretch>
            <a:fillRect/>
          </a:stretch>
        </p:blipFill>
        <p:spPr>
          <a:xfrm rot="5400000">
            <a:off x="8375031" y="3057291"/>
            <a:ext cx="4367562" cy="3266379"/>
          </a:xfrm>
          <a:prstGeom prst="rect">
            <a:avLst/>
          </a:prstGeom>
        </p:spPr>
      </p:pic>
      <p:sp>
        <p:nvSpPr>
          <p:cNvPr id="7" name="TextBox 6">
            <a:extLst>
              <a:ext uri="{FF2B5EF4-FFF2-40B4-BE49-F238E27FC236}">
                <a16:creationId xmlns:a16="http://schemas.microsoft.com/office/drawing/2014/main" id="{748D1626-9E25-9305-5F11-B8ED087447EC}"/>
              </a:ext>
            </a:extLst>
          </p:cNvPr>
          <p:cNvSpPr txBox="1"/>
          <p:nvPr/>
        </p:nvSpPr>
        <p:spPr>
          <a:xfrm>
            <a:off x="294640" y="1645920"/>
            <a:ext cx="23876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Concept 1</a:t>
            </a:r>
          </a:p>
        </p:txBody>
      </p:sp>
      <p:sp>
        <p:nvSpPr>
          <p:cNvPr id="8" name="TextBox 7">
            <a:extLst>
              <a:ext uri="{FF2B5EF4-FFF2-40B4-BE49-F238E27FC236}">
                <a16:creationId xmlns:a16="http://schemas.microsoft.com/office/drawing/2014/main" id="{180D5C2C-E70B-2818-2054-6ECC8261F8A2}"/>
              </a:ext>
            </a:extLst>
          </p:cNvPr>
          <p:cNvSpPr txBox="1"/>
          <p:nvPr/>
        </p:nvSpPr>
        <p:spPr>
          <a:xfrm>
            <a:off x="4947920" y="1798320"/>
            <a:ext cx="18186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Concept 2</a:t>
            </a:r>
          </a:p>
        </p:txBody>
      </p:sp>
      <p:sp>
        <p:nvSpPr>
          <p:cNvPr id="9" name="TextBox 8">
            <a:extLst>
              <a:ext uri="{FF2B5EF4-FFF2-40B4-BE49-F238E27FC236}">
                <a16:creationId xmlns:a16="http://schemas.microsoft.com/office/drawing/2014/main" id="{766F1A5D-20D5-A5D4-67D4-A907A333FEA7}"/>
              </a:ext>
            </a:extLst>
          </p:cNvPr>
          <p:cNvSpPr txBox="1"/>
          <p:nvPr/>
        </p:nvSpPr>
        <p:spPr>
          <a:xfrm>
            <a:off x="9428480" y="1798320"/>
            <a:ext cx="21336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Concept 3</a:t>
            </a:r>
          </a:p>
        </p:txBody>
      </p:sp>
    </p:spTree>
    <p:extLst>
      <p:ext uri="{BB962C8B-B14F-4D97-AF65-F5344CB8AC3E}">
        <p14:creationId xmlns:p14="http://schemas.microsoft.com/office/powerpoint/2010/main" val="29079176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19E52-3C15-F945-365C-DEBB0CE5FC9A}"/>
              </a:ext>
            </a:extLst>
          </p:cNvPr>
          <p:cNvSpPr>
            <a:spLocks noGrp="1"/>
          </p:cNvSpPr>
          <p:nvPr>
            <p:ph type="title"/>
          </p:nvPr>
        </p:nvSpPr>
        <p:spPr>
          <a:xfrm>
            <a:off x="838200" y="-181952"/>
            <a:ext cx="10515600" cy="1325563"/>
          </a:xfrm>
        </p:spPr>
        <p:txBody>
          <a:bodyPr/>
          <a:lstStyle/>
          <a:p>
            <a:r>
              <a:rPr lang="en-US"/>
              <a:t>Decision matrix</a:t>
            </a:r>
          </a:p>
        </p:txBody>
      </p:sp>
      <p:pic>
        <p:nvPicPr>
          <p:cNvPr id="4" name="Content Placeholder 3" descr="A white rectangular grid with black text&#10;&#10;AI-generated content may be incorrect.">
            <a:extLst>
              <a:ext uri="{FF2B5EF4-FFF2-40B4-BE49-F238E27FC236}">
                <a16:creationId xmlns:a16="http://schemas.microsoft.com/office/drawing/2014/main" id="{AF5E2E42-2467-7E62-DF24-B39C40F47077}"/>
              </a:ext>
            </a:extLst>
          </p:cNvPr>
          <p:cNvPicPr>
            <a:picLocks noGrp="1" noChangeAspect="1"/>
          </p:cNvPicPr>
          <p:nvPr>
            <p:ph idx="1"/>
          </p:nvPr>
        </p:nvPicPr>
        <p:blipFill>
          <a:blip r:embed="rId2"/>
          <a:stretch>
            <a:fillRect/>
          </a:stretch>
        </p:blipFill>
        <p:spPr>
          <a:xfrm>
            <a:off x="440254" y="939246"/>
            <a:ext cx="11144224" cy="5377107"/>
          </a:xfrm>
          <a:prstGeom prst="rect">
            <a:avLst/>
          </a:prstGeom>
        </p:spPr>
      </p:pic>
    </p:spTree>
    <p:extLst>
      <p:ext uri="{BB962C8B-B14F-4D97-AF65-F5344CB8AC3E}">
        <p14:creationId xmlns:p14="http://schemas.microsoft.com/office/powerpoint/2010/main" val="720190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D447E-012A-E3C0-5BCA-81304556F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E774C-44FB-C637-D7A6-9D89E8442C8B}"/>
              </a:ext>
            </a:extLst>
          </p:cNvPr>
          <p:cNvSpPr>
            <a:spLocks noGrp="1"/>
          </p:cNvSpPr>
          <p:nvPr>
            <p:ph type="title"/>
          </p:nvPr>
        </p:nvSpPr>
        <p:spPr/>
        <p:txBody>
          <a:bodyPr/>
          <a:lstStyle/>
          <a:p>
            <a:r>
              <a:rPr lang="en-US"/>
              <a:t>Design concepts: Final Design</a:t>
            </a:r>
          </a:p>
        </p:txBody>
      </p:sp>
      <p:pic>
        <p:nvPicPr>
          <p:cNvPr id="5" name="Picture 4">
            <a:extLst>
              <a:ext uri="{FF2B5EF4-FFF2-40B4-BE49-F238E27FC236}">
                <a16:creationId xmlns:a16="http://schemas.microsoft.com/office/drawing/2014/main" id="{1CB112C2-F369-FBAB-9699-163C7AE4A06F}"/>
              </a:ext>
            </a:extLst>
          </p:cNvPr>
          <p:cNvPicPr>
            <a:picLocks noChangeAspect="1"/>
          </p:cNvPicPr>
          <p:nvPr/>
        </p:nvPicPr>
        <p:blipFill>
          <a:blip r:embed="rId2"/>
          <a:stretch>
            <a:fillRect/>
          </a:stretch>
        </p:blipFill>
        <p:spPr>
          <a:xfrm rot="5400000">
            <a:off x="266212" y="2452910"/>
            <a:ext cx="4377808" cy="4466803"/>
          </a:xfrm>
          <a:prstGeom prst="rect">
            <a:avLst/>
          </a:prstGeom>
        </p:spPr>
      </p:pic>
      <p:sp>
        <p:nvSpPr>
          <p:cNvPr id="8" name="TextBox 7">
            <a:extLst>
              <a:ext uri="{FF2B5EF4-FFF2-40B4-BE49-F238E27FC236}">
                <a16:creationId xmlns:a16="http://schemas.microsoft.com/office/drawing/2014/main" id="{CF547383-179C-D1CE-D070-7BE49304620D}"/>
              </a:ext>
            </a:extLst>
          </p:cNvPr>
          <p:cNvSpPr txBox="1"/>
          <p:nvPr/>
        </p:nvSpPr>
        <p:spPr>
          <a:xfrm>
            <a:off x="835074" y="1808089"/>
            <a:ext cx="18186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Concept 2</a:t>
            </a:r>
          </a:p>
        </p:txBody>
      </p:sp>
      <p:sp>
        <p:nvSpPr>
          <p:cNvPr id="11" name="TextBox 10">
            <a:extLst>
              <a:ext uri="{FF2B5EF4-FFF2-40B4-BE49-F238E27FC236}">
                <a16:creationId xmlns:a16="http://schemas.microsoft.com/office/drawing/2014/main" id="{32444E21-3C0C-4E99-A51B-91CBAC6184F1}"/>
              </a:ext>
            </a:extLst>
          </p:cNvPr>
          <p:cNvSpPr txBox="1"/>
          <p:nvPr/>
        </p:nvSpPr>
        <p:spPr>
          <a:xfrm>
            <a:off x="5445532" y="2993455"/>
            <a:ext cx="6052038"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t>This design had the best total score out of each design we tested with the design matrix. </a:t>
            </a:r>
          </a:p>
          <a:p>
            <a:pPr marL="285750" indent="-285750">
              <a:buFont typeface="Arial"/>
              <a:buChar char="•"/>
            </a:pPr>
            <a:endParaRPr lang="en-US" sz="2400"/>
          </a:p>
          <a:p>
            <a:pPr marL="285750" indent="-285750">
              <a:buFont typeface="Arial"/>
              <a:buChar char="•"/>
            </a:pPr>
            <a:r>
              <a:rPr lang="en-US" sz="2400"/>
              <a:t>Although this design is not the most creative, we determined that it is the best option because it is simple, cost effective, and durable.</a:t>
            </a:r>
          </a:p>
          <a:p>
            <a:pPr marL="285750" indent="-285750">
              <a:buFont typeface="Arial"/>
              <a:buChar char="•"/>
            </a:pPr>
            <a:endParaRPr lang="en-US"/>
          </a:p>
          <a:p>
            <a:pPr marL="285750" indent="-285750">
              <a:buFont typeface="Arial"/>
              <a:buChar char="•"/>
            </a:pPr>
            <a:endParaRPr lang="en-US"/>
          </a:p>
        </p:txBody>
      </p:sp>
    </p:spTree>
    <p:extLst>
      <p:ext uri="{BB962C8B-B14F-4D97-AF65-F5344CB8AC3E}">
        <p14:creationId xmlns:p14="http://schemas.microsoft.com/office/powerpoint/2010/main" val="2822892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27880-A528-B215-9F6B-46501DC2D5BB}"/>
              </a:ext>
            </a:extLst>
          </p:cNvPr>
          <p:cNvSpPr>
            <a:spLocks noGrp="1"/>
          </p:cNvSpPr>
          <p:nvPr>
            <p:ph type="title"/>
          </p:nvPr>
        </p:nvSpPr>
        <p:spPr/>
        <p:txBody>
          <a:bodyPr/>
          <a:lstStyle/>
          <a:p>
            <a:r>
              <a:rPr lang="en-US"/>
              <a:t>Final decision</a:t>
            </a:r>
          </a:p>
        </p:txBody>
      </p:sp>
      <p:pic>
        <p:nvPicPr>
          <p:cNvPr id="4" name="Content Placeholder 3">
            <a:extLst>
              <a:ext uri="{FF2B5EF4-FFF2-40B4-BE49-F238E27FC236}">
                <a16:creationId xmlns:a16="http://schemas.microsoft.com/office/drawing/2014/main" id="{A16B2647-0AF0-55E5-7E2D-BD5B0011434D}"/>
              </a:ext>
            </a:extLst>
          </p:cNvPr>
          <p:cNvPicPr>
            <a:picLocks noGrp="1" noChangeAspect="1"/>
          </p:cNvPicPr>
          <p:nvPr>
            <p:ph idx="1"/>
          </p:nvPr>
        </p:nvPicPr>
        <p:blipFill>
          <a:blip r:embed="rId2"/>
          <a:stretch>
            <a:fillRect/>
          </a:stretch>
        </p:blipFill>
        <p:spPr>
          <a:xfrm rot="5400000">
            <a:off x="3919538" y="2369741"/>
            <a:ext cx="4352925" cy="3264693"/>
          </a:xfrm>
          <a:prstGeom prst="rect">
            <a:avLst/>
          </a:prstGeom>
        </p:spPr>
      </p:pic>
    </p:spTree>
    <p:extLst>
      <p:ext uri="{BB962C8B-B14F-4D97-AF65-F5344CB8AC3E}">
        <p14:creationId xmlns:p14="http://schemas.microsoft.com/office/powerpoint/2010/main" val="818918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7575B-408F-25B7-C353-66807CD8E404}"/>
              </a:ext>
            </a:extLst>
          </p:cNvPr>
          <p:cNvSpPr>
            <a:spLocks noGrp="1"/>
          </p:cNvSpPr>
          <p:nvPr>
            <p:ph type="title"/>
          </p:nvPr>
        </p:nvSpPr>
        <p:spPr>
          <a:xfrm>
            <a:off x="1003" y="-835"/>
            <a:ext cx="12189994" cy="1325563"/>
          </a:xfrm>
        </p:spPr>
        <p:txBody>
          <a:bodyPr/>
          <a:lstStyle/>
          <a:p>
            <a:pPr algn="ctr"/>
            <a:r>
              <a:rPr lang="en-US" dirty="0"/>
              <a:t>Final Prototype </a:t>
            </a:r>
            <a:endParaRPr lang="en-US"/>
          </a:p>
        </p:txBody>
      </p:sp>
      <p:pic>
        <p:nvPicPr>
          <p:cNvPr id="4" name="Content Placeholder 3" descr="A red box on a desk&#10;&#10;AI-generated content may be incorrect.">
            <a:extLst>
              <a:ext uri="{FF2B5EF4-FFF2-40B4-BE49-F238E27FC236}">
                <a16:creationId xmlns:a16="http://schemas.microsoft.com/office/drawing/2014/main" id="{092ADAF6-E4FB-FC2A-7241-3E0AD4FFAE0F}"/>
              </a:ext>
            </a:extLst>
          </p:cNvPr>
          <p:cNvPicPr>
            <a:picLocks noGrp="1" noChangeAspect="1"/>
          </p:cNvPicPr>
          <p:nvPr>
            <p:ph idx="1"/>
          </p:nvPr>
        </p:nvPicPr>
        <p:blipFill>
          <a:blip r:embed="rId2"/>
          <a:stretch>
            <a:fillRect/>
          </a:stretch>
        </p:blipFill>
        <p:spPr>
          <a:xfrm rot="5400000">
            <a:off x="-222215" y="626478"/>
            <a:ext cx="3224963" cy="2387389"/>
          </a:xfrm>
          <a:prstGeom prst="rect">
            <a:avLst/>
          </a:prstGeom>
        </p:spPr>
      </p:pic>
      <p:pic>
        <p:nvPicPr>
          <p:cNvPr id="5" name="Picture 4" descr="A red box on a desk&#10;&#10;AI-generated content may be incorrect.">
            <a:extLst>
              <a:ext uri="{FF2B5EF4-FFF2-40B4-BE49-F238E27FC236}">
                <a16:creationId xmlns:a16="http://schemas.microsoft.com/office/drawing/2014/main" id="{925877D5-DB9B-8BAF-56DA-4894E298E851}"/>
              </a:ext>
            </a:extLst>
          </p:cNvPr>
          <p:cNvPicPr>
            <a:picLocks noChangeAspect="1"/>
          </p:cNvPicPr>
          <p:nvPr/>
        </p:nvPicPr>
        <p:blipFill>
          <a:blip r:embed="rId3"/>
          <a:stretch>
            <a:fillRect/>
          </a:stretch>
        </p:blipFill>
        <p:spPr>
          <a:xfrm rot="5400000">
            <a:off x="-400096" y="3967749"/>
            <a:ext cx="3231471" cy="2425793"/>
          </a:xfrm>
          <a:prstGeom prst="rect">
            <a:avLst/>
          </a:prstGeom>
        </p:spPr>
      </p:pic>
      <p:sp>
        <p:nvSpPr>
          <p:cNvPr id="3" name="TextBox 2">
            <a:extLst>
              <a:ext uri="{FF2B5EF4-FFF2-40B4-BE49-F238E27FC236}">
                <a16:creationId xmlns:a16="http://schemas.microsoft.com/office/drawing/2014/main" id="{1777BE08-8168-A3EA-9F10-90806FE4FF4B}"/>
              </a:ext>
            </a:extLst>
          </p:cNvPr>
          <p:cNvSpPr txBox="1"/>
          <p:nvPr/>
        </p:nvSpPr>
        <p:spPr>
          <a:xfrm>
            <a:off x="7228974" y="1323473"/>
            <a:ext cx="4963027"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Manufacturing &amp; Materials</a:t>
            </a:r>
          </a:p>
          <a:p>
            <a:pPr marL="228600" indent="-228600">
              <a:buFont typeface=""/>
              <a:buChar char="•"/>
            </a:pPr>
            <a:r>
              <a:rPr lang="en-US" b="1" dirty="0"/>
              <a:t>Chassis Material</a:t>
            </a:r>
            <a:r>
              <a:rPr lang="en-US" dirty="0"/>
              <a:t>: PLA Filament. We used inventor modeling and 3D printing to create the main enclosure. PLA was selected for its high strength-to-weight ratio and ease of rapid prototyping, ensuring the device meets our Priority constraints.</a:t>
            </a:r>
          </a:p>
          <a:p>
            <a:pPr marL="228600" indent="-228600">
              <a:buFont typeface=""/>
              <a:buChar char="•"/>
            </a:pPr>
            <a:endParaRPr lang="en-US" dirty="0"/>
          </a:p>
          <a:p>
            <a:pPr marL="228600" indent="-228600">
              <a:buFont typeface=""/>
              <a:buChar char="•"/>
            </a:pPr>
            <a:r>
              <a:rPr lang="en-US" b="1" dirty="0"/>
              <a:t>Shock Absorption</a:t>
            </a:r>
            <a:r>
              <a:rPr lang="en-US" dirty="0"/>
              <a:t>: High-Density Rubber Dampening. To mitigate the high G-forces of running impacts, the internal cavity features rubber inserts. These act as a mechanical low-pass filter, protecting the sensitive MPU-6050 sensor and Arduino from high-frequency vibrations and structural shock.</a:t>
            </a:r>
          </a:p>
          <a:p>
            <a:pPr algn="ctr"/>
            <a:endParaRPr lang="en-US"/>
          </a:p>
        </p:txBody>
      </p:sp>
      <p:sp>
        <p:nvSpPr>
          <p:cNvPr id="6" name="TextBox 5">
            <a:extLst>
              <a:ext uri="{FF2B5EF4-FFF2-40B4-BE49-F238E27FC236}">
                <a16:creationId xmlns:a16="http://schemas.microsoft.com/office/drawing/2014/main" id="{A60DE42F-6B1F-11A5-569E-6E162B07B1B6}"/>
              </a:ext>
            </a:extLst>
          </p:cNvPr>
          <p:cNvSpPr txBox="1"/>
          <p:nvPr/>
        </p:nvSpPr>
        <p:spPr>
          <a:xfrm>
            <a:off x="2692067" y="1323473"/>
            <a:ext cx="4727408"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Design Features</a:t>
            </a:r>
          </a:p>
          <a:p>
            <a:pPr marL="228600" indent="-228600">
              <a:buFont typeface=""/>
              <a:buChar char="•"/>
            </a:pPr>
            <a:r>
              <a:rPr lang="en-US" b="1" dirty="0"/>
              <a:t>Snap-Fit Assembly:</a:t>
            </a:r>
            <a:r>
              <a:rPr lang="en-US" dirty="0"/>
              <a:t> The box is designed with a two-part construction for easy access to the battery and internal components during the testing phase.</a:t>
            </a:r>
          </a:p>
          <a:p>
            <a:pPr marL="228600" indent="-228600">
              <a:buFont typeface=""/>
              <a:buChar char="•"/>
            </a:pPr>
            <a:endParaRPr lang="en-US" dirty="0"/>
          </a:p>
          <a:p>
            <a:pPr marL="228600" indent="-228600">
              <a:buFont typeface=""/>
              <a:buChar char="•"/>
            </a:pPr>
            <a:r>
              <a:rPr lang="en-US" b="1" dirty="0"/>
              <a:t>Integrated Mounting Points:</a:t>
            </a:r>
            <a:r>
              <a:rPr lang="en-US" dirty="0"/>
              <a:t> The exterior geometry includes specialized slots to accommodate the elastic strap system, ensuring the sensor remains aligned with the foot's longitudinal axis.</a:t>
            </a:r>
          </a:p>
          <a:p>
            <a:pPr marL="228600" indent="-228600">
              <a:buFont typeface=""/>
              <a:buChar char="•"/>
            </a:pPr>
            <a:endParaRPr lang="en-US" dirty="0"/>
          </a:p>
          <a:p>
            <a:pPr marL="228600" indent="-228600">
              <a:buFont typeface=""/>
              <a:buChar char="•"/>
            </a:pPr>
            <a:r>
              <a:rPr lang="en-US" b="1" dirty="0"/>
              <a:t>Internal Layout:</a:t>
            </a:r>
            <a:r>
              <a:rPr lang="en-US" dirty="0"/>
              <a:t> The internal volume is optimized to prevent component shifting, which is critical for maintaining data integrity during high-speed movement.</a:t>
            </a:r>
          </a:p>
          <a:p>
            <a:pPr algn="ctr"/>
            <a:endParaRPr lang="en-US"/>
          </a:p>
        </p:txBody>
      </p:sp>
    </p:spTree>
    <p:extLst>
      <p:ext uri="{BB962C8B-B14F-4D97-AF65-F5344CB8AC3E}">
        <p14:creationId xmlns:p14="http://schemas.microsoft.com/office/powerpoint/2010/main" val="2437856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14B16-287F-51C8-C111-97F95CAC61C0}"/>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BDBC43FA-3DA6-11A0-811F-50A513621E8F}"/>
              </a:ext>
            </a:extLst>
          </p:cNvPr>
          <p:cNvSpPr>
            <a:spLocks noGrp="1"/>
          </p:cNvSpPr>
          <p:nvPr>
            <p:ph idx="1"/>
          </p:nvPr>
        </p:nvSpPr>
        <p:spPr>
          <a:xfrm>
            <a:off x="838200" y="1825625"/>
            <a:ext cx="10515600" cy="4759946"/>
          </a:xfrm>
        </p:spPr>
        <p:txBody>
          <a:bodyPr vert="horz" lIns="91440" tIns="45720" rIns="91440" bIns="45720" rtlCol="0" anchor="t">
            <a:normAutofit fontScale="62500" lnSpcReduction="20000"/>
          </a:bodyPr>
          <a:lstStyle/>
          <a:p>
            <a:r>
              <a:rPr lang="en-US" err="1">
                <a:ea typeface="+mn-lt"/>
                <a:cs typeface="+mn-lt"/>
              </a:rPr>
              <a:t>Kakouris</a:t>
            </a:r>
            <a:r>
              <a:rPr lang="en-US">
                <a:ea typeface="+mn-lt"/>
                <a:cs typeface="+mn-lt"/>
              </a:rPr>
              <a:t>, N., Yener, N., &amp; Fong, D. T. P. (2021, September). </a:t>
            </a:r>
            <a:r>
              <a:rPr lang="en-US" i="1">
                <a:ea typeface="+mn-lt"/>
                <a:cs typeface="+mn-lt"/>
              </a:rPr>
              <a:t>A systematic review of running-related musculoskeletal injuries in Runners</a:t>
            </a:r>
            <a:r>
              <a:rPr lang="en-US">
                <a:ea typeface="+mn-lt"/>
                <a:cs typeface="+mn-lt"/>
              </a:rPr>
              <a:t>. Journal of sport and health science. </a:t>
            </a:r>
            <a:r>
              <a:rPr lang="en-US">
                <a:ea typeface="+mn-lt"/>
                <a:cs typeface="+mn-lt"/>
                <a:hlinkClick r:id="rId2"/>
              </a:rPr>
              <a:t>https://pmc.ncbi.nlm.nih.gov/articles/PMC8500811/#:~:text=About%2070%25%E2%80%9380%25%20of%20running%20disorders%20are%20due,stress%20syndrome%20is%20the%20most%20common%20RRMI</a:t>
            </a:r>
            <a:r>
              <a:rPr lang="en-US">
                <a:ea typeface="+mn-lt"/>
                <a:cs typeface="+mn-lt"/>
              </a:rPr>
              <a:t>. </a:t>
            </a:r>
            <a:endParaRPr lang="en-US"/>
          </a:p>
          <a:p>
            <a:r>
              <a:rPr lang="en-US">
                <a:ea typeface="+mn-lt"/>
                <a:cs typeface="+mn-lt"/>
              </a:rPr>
              <a:t>Are you risking injury by going too far in your long run? here’s what new research says. (n.d.). </a:t>
            </a:r>
            <a:r>
              <a:rPr lang="en-US">
                <a:ea typeface="+mn-lt"/>
                <a:cs typeface="+mn-lt"/>
                <a:hlinkClick r:id="rId3"/>
              </a:rPr>
              <a:t>https://www.runnersworld.com/health-injuries/a65792883/rethink-mileage-increase-running-injuries/</a:t>
            </a:r>
            <a:r>
              <a:rPr lang="en-US">
                <a:ea typeface="+mn-lt"/>
                <a:cs typeface="+mn-lt"/>
              </a:rPr>
              <a:t> </a:t>
            </a:r>
            <a:endParaRPr lang="en-US"/>
          </a:p>
          <a:p>
            <a:r>
              <a:rPr lang="en-US">
                <a:ea typeface="+mn-lt"/>
                <a:cs typeface="+mn-lt"/>
              </a:rPr>
              <a:t>Mason, R., Pearson, L. T., Barry, G., Young, F., Lennon, O., Godfrey, A., &amp; Stuart, S. (2023, January). </a:t>
            </a:r>
            <a:r>
              <a:rPr lang="en-US" i="1">
                <a:ea typeface="+mn-lt"/>
                <a:cs typeface="+mn-lt"/>
              </a:rPr>
              <a:t>Wearables for running gait analysis: A systematic review</a:t>
            </a:r>
            <a:r>
              <a:rPr lang="en-US">
                <a:ea typeface="+mn-lt"/>
                <a:cs typeface="+mn-lt"/>
              </a:rPr>
              <a:t>. Sports medicine (Auckland, N.Z.). </a:t>
            </a:r>
            <a:r>
              <a:rPr lang="en-US">
                <a:ea typeface="+mn-lt"/>
                <a:cs typeface="+mn-lt"/>
                <a:hlinkClick r:id="rId4"/>
              </a:rPr>
              <a:t>https://pmc.ncbi.nlm.nih.gov/articles/PMC9807497/</a:t>
            </a:r>
            <a:r>
              <a:rPr lang="en-US">
                <a:ea typeface="+mn-lt"/>
                <a:cs typeface="+mn-lt"/>
              </a:rPr>
              <a:t> </a:t>
            </a:r>
            <a:endParaRPr lang="en-US"/>
          </a:p>
          <a:p>
            <a:r>
              <a:rPr lang="en-US">
                <a:ea typeface="+mn-lt"/>
                <a:cs typeface="+mn-lt"/>
              </a:rPr>
              <a:t>Mason, R., Godfrey, A., Barry, G., &amp; Stuart, S. (n.d.). </a:t>
            </a:r>
            <a:r>
              <a:rPr lang="en-US" i="1">
                <a:ea typeface="+mn-lt"/>
                <a:cs typeface="+mn-lt"/>
              </a:rPr>
              <a:t>Wearables for running Gait Analysis: A study protocol</a:t>
            </a:r>
            <a:r>
              <a:rPr lang="en-US">
                <a:ea typeface="+mn-lt"/>
                <a:cs typeface="+mn-lt"/>
              </a:rPr>
              <a:t>. PLOS ONE. </a:t>
            </a:r>
            <a:r>
              <a:rPr lang="en-US">
                <a:ea typeface="+mn-lt"/>
                <a:cs typeface="+mn-lt"/>
                <a:hlinkClick r:id="rId5"/>
              </a:rPr>
              <a:t>https://journals.plos.org/plosone/article?id=10.1371%2Fjournal.pone.0291289</a:t>
            </a:r>
            <a:r>
              <a:rPr lang="en-US">
                <a:ea typeface="+mn-lt"/>
                <a:cs typeface="+mn-lt"/>
              </a:rPr>
              <a:t> </a:t>
            </a:r>
            <a:endParaRPr lang="en-US"/>
          </a:p>
          <a:p>
            <a:r>
              <a:rPr lang="en-US" i="1">
                <a:ea typeface="+mn-lt"/>
                <a:cs typeface="+mn-lt"/>
              </a:rPr>
              <a:t>Wearable IMU - gait analysis</a:t>
            </a:r>
            <a:r>
              <a:rPr lang="en-US">
                <a:ea typeface="+mn-lt"/>
                <a:cs typeface="+mn-lt"/>
              </a:rPr>
              <a:t>. </a:t>
            </a:r>
            <a:r>
              <a:rPr lang="en-US" err="1">
                <a:ea typeface="+mn-lt"/>
                <a:cs typeface="+mn-lt"/>
              </a:rPr>
              <a:t>RunScribe</a:t>
            </a:r>
            <a:r>
              <a:rPr lang="en-US">
                <a:ea typeface="+mn-lt"/>
                <a:cs typeface="+mn-lt"/>
              </a:rPr>
              <a:t>. (2019, June 9). </a:t>
            </a:r>
            <a:r>
              <a:rPr lang="en-US">
                <a:ea typeface="+mn-lt"/>
                <a:cs typeface="+mn-lt"/>
                <a:hlinkClick r:id="rId6"/>
              </a:rPr>
              <a:t>https://runscribe.com/</a:t>
            </a:r>
            <a:r>
              <a:rPr lang="en-US">
                <a:ea typeface="+mn-lt"/>
                <a:cs typeface="+mn-lt"/>
              </a:rPr>
              <a:t> </a:t>
            </a:r>
          </a:p>
          <a:p>
            <a:r>
              <a:rPr lang="en-US" i="1" err="1">
                <a:ea typeface="+mn-lt"/>
                <a:cs typeface="+mn-lt"/>
              </a:rPr>
              <a:t>Stryd</a:t>
            </a:r>
            <a:r>
              <a:rPr lang="en-US" i="1">
                <a:ea typeface="+mn-lt"/>
                <a:cs typeface="+mn-lt"/>
              </a:rPr>
              <a:t>: Run with power</a:t>
            </a:r>
            <a:r>
              <a:rPr lang="en-US">
                <a:ea typeface="+mn-lt"/>
                <a:cs typeface="+mn-lt"/>
              </a:rPr>
              <a:t>. </a:t>
            </a:r>
            <a:r>
              <a:rPr lang="en-US" err="1">
                <a:ea typeface="+mn-lt"/>
                <a:cs typeface="+mn-lt"/>
              </a:rPr>
              <a:t>Stryd</a:t>
            </a:r>
            <a:r>
              <a:rPr lang="en-US">
                <a:ea typeface="+mn-lt"/>
                <a:cs typeface="+mn-lt"/>
              </a:rPr>
              <a:t> (United States). (n.d.). </a:t>
            </a:r>
            <a:r>
              <a:rPr lang="en-US">
                <a:ea typeface="+mn-lt"/>
                <a:cs typeface="+mn-lt"/>
                <a:hlinkClick r:id="rId7"/>
              </a:rPr>
              <a:t>https://www.stryd.com/us/en</a:t>
            </a:r>
            <a:r>
              <a:rPr lang="en-US">
                <a:ea typeface="+mn-lt"/>
                <a:cs typeface="+mn-lt"/>
              </a:rPr>
              <a:t> </a:t>
            </a:r>
          </a:p>
          <a:p>
            <a:r>
              <a:rPr lang="en-US">
                <a:ea typeface="+mn-lt"/>
                <a:cs typeface="+mn-lt"/>
              </a:rPr>
              <a:t>Henderson, J. (2011, March 3). Athletic training device. </a:t>
            </a:r>
          </a:p>
          <a:p>
            <a:r>
              <a:rPr lang="en-US">
                <a:ea typeface="+mn-lt"/>
                <a:cs typeface="+mn-lt"/>
              </a:rPr>
              <a:t>Mason, R., Pearson, L. T., Barry, G., Young, F., Lennon, O., Godfrey, A., &amp; Stuart, S. (2022, October 15). </a:t>
            </a:r>
            <a:r>
              <a:rPr lang="en-US" i="1">
                <a:ea typeface="+mn-lt"/>
                <a:cs typeface="+mn-lt"/>
              </a:rPr>
              <a:t>Wearables for running gait analysis: A systematic review - sports medicine</a:t>
            </a:r>
            <a:r>
              <a:rPr lang="en-US">
                <a:ea typeface="+mn-lt"/>
                <a:cs typeface="+mn-lt"/>
              </a:rPr>
              <a:t>. SpringerLink. </a:t>
            </a:r>
            <a:r>
              <a:rPr lang="en-US">
                <a:ea typeface="+mn-lt"/>
                <a:cs typeface="+mn-lt"/>
                <a:hlinkClick r:id="rId8"/>
              </a:rPr>
              <a:t>https://link.springer.com/article/10.1007/s40279-022-01760-6</a:t>
            </a:r>
            <a:r>
              <a:rPr lang="en-US">
                <a:ea typeface="+mn-lt"/>
                <a:cs typeface="+mn-lt"/>
              </a:rPr>
              <a:t> </a:t>
            </a:r>
            <a:endParaRPr lang="en-US"/>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396833473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17</Slides>
  <Notes>1</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Validation of problem</vt:lpstr>
      <vt:lpstr>Statistics:</vt:lpstr>
      <vt:lpstr>Gathering info</vt:lpstr>
      <vt:lpstr>Similar patents</vt:lpstr>
      <vt:lpstr>Similar Patents</vt:lpstr>
      <vt:lpstr>Similar devices</vt:lpstr>
      <vt:lpstr>Similar devices</vt:lpstr>
      <vt:lpstr>Primary Stake Holder </vt:lpstr>
      <vt:lpstr>Communication Log </vt:lpstr>
      <vt:lpstr>Determination of Design Specifications</vt:lpstr>
      <vt:lpstr>Design Specifications</vt:lpstr>
      <vt:lpstr>Design concepts</vt:lpstr>
      <vt:lpstr>Decision matrix</vt:lpstr>
      <vt:lpstr>Design concepts: Final Design</vt:lpstr>
      <vt:lpstr>Final decision</vt:lpstr>
      <vt:lpstr>Final Prototype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47</cp:revision>
  <dcterms:created xsi:type="dcterms:W3CDTF">2025-10-06T14:42:17Z</dcterms:created>
  <dcterms:modified xsi:type="dcterms:W3CDTF">2026-01-14T04:15:07Z</dcterms:modified>
</cp:coreProperties>
</file>